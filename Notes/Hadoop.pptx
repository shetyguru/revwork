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57" r:id="rId9"/>
    <p:sldId id="258" r:id="rId10"/>
    <p:sldId id="259" r:id="rId11"/>
    <p:sldId id="260" r:id="rId12"/>
    <p:sldId id="261" r:id="rId13"/>
    <p:sldId id="262" r:id="rId14"/>
    <p:sldId id="265" r:id="rId15"/>
    <p:sldId id="266" r:id="rId16"/>
    <p:sldId id="267" r:id="rId17"/>
    <p:sldId id="268" r:id="rId18"/>
    <p:sldId id="263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76B28-3728-4C24-90BD-9CCE7DE371E5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4BA75-F4FE-49B1-98F4-D2BBA14E683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Agenda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1524000"/>
            <a:ext cx="6858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1" dirty="0" smtClean="0"/>
              <a:t>What is Big Data?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1" dirty="0" smtClean="0"/>
              <a:t>What </a:t>
            </a:r>
            <a:r>
              <a:rPr lang="en-US" sz="2400" b="1" dirty="0" smtClean="0"/>
              <a:t>is Hadoop?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 err="1" smtClean="0"/>
              <a:t>Hadoop</a:t>
            </a:r>
            <a:r>
              <a:rPr lang="en-US" sz="2400" b="1" dirty="0" smtClean="0"/>
              <a:t> </a:t>
            </a:r>
            <a:r>
              <a:rPr lang="en-US" sz="2400" b="1" dirty="0" smtClean="0"/>
              <a:t>Related Open Source Projects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 smtClean="0"/>
              <a:t>Example of Hadoop In Action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 smtClean="0"/>
              <a:t>Big Data Solutions and Cloud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 smtClean="0"/>
              <a:t>What is data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 order to understand 'Big Data', we first need to know what </a:t>
            </a:r>
            <a:r>
              <a:rPr lang="en-US" b="1" dirty="0" smtClean="0"/>
              <a:t>'data' </a:t>
            </a:r>
            <a:r>
              <a:rPr lang="en-US" dirty="0" smtClean="0"/>
              <a:t>is. Oxford dictionary defines </a:t>
            </a:r>
            <a:r>
              <a:rPr lang="en-US" b="1" i="1" dirty="0" smtClean="0"/>
              <a:t>'data'</a:t>
            </a:r>
            <a:r>
              <a:rPr lang="en-US" dirty="0" smtClean="0"/>
              <a:t> as –</a:t>
            </a:r>
          </a:p>
          <a:p>
            <a:endParaRPr lang="en-US" dirty="0" smtClean="0"/>
          </a:p>
          <a:p>
            <a:r>
              <a:rPr lang="en-US" i="1" dirty="0" smtClean="0"/>
              <a:t>The quantities, characters, or symbols on which operations are performed by a computer, which may be stored and transmitted in the form of electrical signals and recorded on magnetic, optical, or mechanical recording media. "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1534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What is Big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3733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'Big Data' is also a </a:t>
            </a:r>
            <a:r>
              <a:rPr lang="en-US" sz="2000" b="1" dirty="0" smtClean="0"/>
              <a:t>data</a:t>
            </a:r>
            <a:r>
              <a:rPr lang="en-US" sz="2000" dirty="0" smtClean="0"/>
              <a:t> but with a </a:t>
            </a:r>
            <a:r>
              <a:rPr lang="en-US" sz="2000" b="1" dirty="0" smtClean="0"/>
              <a:t>huge size</a:t>
            </a:r>
            <a:r>
              <a:rPr lang="en-US" sz="2000" dirty="0" smtClean="0"/>
              <a:t>. 'Big Data' is a term used to describe collection of data that is huge in size and yet growing exponentially with </a:t>
            </a:r>
            <a:r>
              <a:rPr lang="en-US" sz="2000" dirty="0" err="1" smtClean="0"/>
              <a:t>time.In</a:t>
            </a:r>
            <a:r>
              <a:rPr lang="en-US" sz="2000" dirty="0" smtClean="0"/>
              <a:t> short, </a:t>
            </a:r>
            <a:r>
              <a:rPr lang="en-US" sz="2000" i="1" dirty="0" smtClean="0"/>
              <a:t>s</a:t>
            </a:r>
            <a:r>
              <a:rPr lang="en-US" sz="2000" dirty="0" smtClean="0"/>
              <a:t>uch a data is so large and complex that none of the traditional data management tools are able to store it or process it efficiently.</a:t>
            </a:r>
            <a:endParaRPr lang="en-US" sz="2000" dirty="0"/>
          </a:p>
        </p:txBody>
      </p:sp>
      <p:pic>
        <p:nvPicPr>
          <p:cNvPr id="4" name="Picture 3" descr="061114_0759_WhatIsBigD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2743200"/>
            <a:ext cx="6657975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381000"/>
            <a:ext cx="815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Characteristics Of 'Big Data'</a:t>
            </a:r>
          </a:p>
          <a:p>
            <a:endParaRPr lang="en-US" b="1" i="1" dirty="0" smtClean="0"/>
          </a:p>
          <a:p>
            <a:endParaRPr lang="en-US" b="1" i="1" dirty="0" smtClean="0"/>
          </a:p>
          <a:p>
            <a:r>
              <a:rPr lang="en-US" b="1" i="1" dirty="0" smtClean="0"/>
              <a:t>(</a:t>
            </a:r>
            <a:r>
              <a:rPr lang="en-US" b="1" i="1" dirty="0" err="1" smtClean="0"/>
              <a:t>i</a:t>
            </a:r>
            <a:r>
              <a:rPr lang="en-US" b="1" i="1" dirty="0" smtClean="0"/>
              <a:t>)Volume –</a:t>
            </a:r>
            <a:r>
              <a:rPr lang="en-US" dirty="0" smtClean="0"/>
              <a:t> The name 'Big Data' itself is related to a size which is enormous. Size of data plays very crucial role in determining value out of data. Also, whether a particular data can actually be considered as a Big Data or not, is dependent upon volume of data. Hence, </a:t>
            </a:r>
            <a:r>
              <a:rPr lang="en-US" b="1" dirty="0" smtClean="0"/>
              <a:t>'Volume'</a:t>
            </a:r>
            <a:r>
              <a:rPr lang="en-US" dirty="0" smtClean="0"/>
              <a:t> is one characteristic which needs to be considered while dealing with 'Big Data'.</a:t>
            </a:r>
          </a:p>
          <a:p>
            <a:endParaRPr lang="en-US" b="1" i="1" dirty="0" smtClean="0"/>
          </a:p>
          <a:p>
            <a:endParaRPr lang="en-US" b="1" i="1" dirty="0" smtClean="0"/>
          </a:p>
          <a:p>
            <a:r>
              <a:rPr lang="en-US" b="1" i="1" dirty="0" smtClean="0"/>
              <a:t>(ii)Variety –</a:t>
            </a:r>
            <a:r>
              <a:rPr lang="en-US" dirty="0" smtClean="0"/>
              <a:t> The next aspect of 'Big Data' is its </a:t>
            </a:r>
            <a:r>
              <a:rPr lang="en-US" b="1" dirty="0" smtClean="0"/>
              <a:t>variety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i="1" dirty="0" smtClean="0"/>
              <a:t>Velocity –</a:t>
            </a:r>
            <a:r>
              <a:rPr lang="en-US" dirty="0" smtClean="0"/>
              <a:t> The term </a:t>
            </a:r>
            <a:r>
              <a:rPr lang="en-US" b="1" dirty="0" smtClean="0"/>
              <a:t>'velocity'</a:t>
            </a:r>
            <a:r>
              <a:rPr lang="en-US" dirty="0" smtClean="0"/>
              <a:t> refers to the speed of generation of data. How fast the data is generated and processed to meet the demands, determines real potential in the data.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061114_0759_WhatIsBigD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85800"/>
            <a:ext cx="3800475" cy="2133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67200" y="762000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New York Stock Exchange</a:t>
            </a:r>
            <a:r>
              <a:rPr lang="en-US" dirty="0" smtClean="0"/>
              <a:t> generates about </a:t>
            </a:r>
            <a:r>
              <a:rPr lang="en-US" b="1" i="1" dirty="0" smtClean="0"/>
              <a:t>one terabyte</a:t>
            </a:r>
            <a:r>
              <a:rPr lang="en-US" dirty="0" smtClean="0"/>
              <a:t> of new trade data per day.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228600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Examples of </a:t>
            </a:r>
            <a:r>
              <a:rPr lang="en-US" sz="2000" b="1" dirty="0" err="1" smtClean="0"/>
              <a:t>BigData</a:t>
            </a:r>
            <a:endParaRPr lang="en-US" sz="2000" b="1" dirty="0"/>
          </a:p>
        </p:txBody>
      </p:sp>
      <p:pic>
        <p:nvPicPr>
          <p:cNvPr id="7" name="Picture 6" descr="061114_0759_WhatIsBigDa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743200"/>
            <a:ext cx="3124200" cy="1981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31242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Statistic shows that </a:t>
            </a:r>
            <a:r>
              <a:rPr lang="en-US" b="1" i="1" dirty="0" smtClean="0"/>
              <a:t>500+terabytes</a:t>
            </a:r>
            <a:r>
              <a:rPr lang="en-US" dirty="0" smtClean="0"/>
              <a:t> of new data gets ingested into the databases of social media site </a:t>
            </a:r>
            <a:r>
              <a:rPr lang="en-US" b="1" dirty="0" err="1" smtClean="0"/>
              <a:t>Facebook</a:t>
            </a:r>
            <a:r>
              <a:rPr lang="en-US" dirty="0" smtClean="0"/>
              <a:t>, every day. This data is mainly generated in terms of photo and video uploads, message exchanges, putting comments etc.</a:t>
            </a:r>
            <a:endParaRPr lang="en-US" dirty="0"/>
          </a:p>
        </p:txBody>
      </p:sp>
      <p:pic>
        <p:nvPicPr>
          <p:cNvPr id="9" name="Picture 8" descr="061114_0759_WhatIsBigDa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924425"/>
            <a:ext cx="3200400" cy="19335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0" y="51816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Single </a:t>
            </a:r>
            <a:r>
              <a:rPr lang="en-US" b="1" dirty="0" smtClean="0"/>
              <a:t>Jet engine</a:t>
            </a:r>
            <a:r>
              <a:rPr lang="en-US" dirty="0" smtClean="0"/>
              <a:t> can generate </a:t>
            </a:r>
            <a:r>
              <a:rPr lang="en-US" b="1" i="1" dirty="0" smtClean="0"/>
              <a:t>10+terabytes</a:t>
            </a:r>
            <a:r>
              <a:rPr lang="en-US" dirty="0" smtClean="0"/>
              <a:t> of data in </a:t>
            </a:r>
            <a:r>
              <a:rPr lang="en-US" b="1" i="1" dirty="0" smtClean="0"/>
              <a:t>30 minutes</a:t>
            </a:r>
            <a:r>
              <a:rPr lang="en-US" dirty="0" smtClean="0"/>
              <a:t> of a flight time. With many thousand flights per day, generation of data reaches up to many </a:t>
            </a:r>
            <a:r>
              <a:rPr lang="en-US" b="1" i="1" dirty="0" err="1" smtClean="0"/>
              <a:t>Petabytes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228600"/>
            <a:ext cx="2426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Categories Of 'Big Data'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685800"/>
            <a:ext cx="4038599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343400" y="7620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Structured</a:t>
            </a:r>
          </a:p>
          <a:p>
            <a:r>
              <a:rPr lang="en-US" dirty="0" smtClean="0"/>
              <a:t>Any data that can be stored, accessed and processed in the form of fixed format is termed as a 'structured' data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2209801"/>
            <a:ext cx="4343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0" y="25908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Unstructured</a:t>
            </a:r>
          </a:p>
          <a:p>
            <a:r>
              <a:rPr lang="en-US" dirty="0" smtClean="0"/>
              <a:t>Any data with unknown form or the structure is classified as unstructured data.</a:t>
            </a:r>
          </a:p>
          <a:p>
            <a:endParaRPr lang="en-US" dirty="0" smtClean="0"/>
          </a:p>
          <a:p>
            <a:r>
              <a:rPr lang="en-US" dirty="0" smtClean="0"/>
              <a:t>Combination of simple text files, images, videos etc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724400"/>
            <a:ext cx="462915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4724400" y="4800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Semi-structured</a:t>
            </a:r>
          </a:p>
          <a:p>
            <a:r>
              <a:rPr lang="en-US" dirty="0" smtClean="0"/>
              <a:t>Semi-structured data can contain both the forms of data. We can see semi-structured data as a </a:t>
            </a:r>
            <a:r>
              <a:rPr lang="en-US" dirty="0" err="1" smtClean="0"/>
              <a:t>strcutured</a:t>
            </a:r>
            <a:r>
              <a:rPr lang="en-US" dirty="0" smtClean="0"/>
              <a:t> in form but it is actually not defined with </a:t>
            </a:r>
            <a:r>
              <a:rPr lang="en-US" dirty="0" err="1" smtClean="0"/>
              <a:t>e.g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7eaa1bd400746f67a4e638b7ec090751--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8305800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819400"/>
            <a:ext cx="46482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2057400"/>
            <a:ext cx="44958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0" y="2819400"/>
            <a:ext cx="9906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2362200"/>
            <a:ext cx="12668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Lightning Bolt 25"/>
          <p:cNvSpPr/>
          <p:nvPr/>
        </p:nvSpPr>
        <p:spPr>
          <a:xfrm>
            <a:off x="2743200" y="3810000"/>
            <a:ext cx="914400" cy="685800"/>
          </a:xfrm>
          <a:prstGeom prst="lightningBol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ightning Bolt 26"/>
          <p:cNvSpPr/>
          <p:nvPr/>
        </p:nvSpPr>
        <p:spPr>
          <a:xfrm flipH="1">
            <a:off x="5257800" y="3733800"/>
            <a:ext cx="1066800" cy="838200"/>
          </a:xfrm>
          <a:prstGeom prst="lightningBol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524000"/>
            <a:ext cx="476250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7925" y="1233488"/>
            <a:ext cx="4248150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Lightning Bolt 5"/>
          <p:cNvSpPr/>
          <p:nvPr/>
        </p:nvSpPr>
        <p:spPr>
          <a:xfrm>
            <a:off x="1905000" y="3124200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ghtning Bolt 7"/>
          <p:cNvSpPr/>
          <p:nvPr/>
        </p:nvSpPr>
        <p:spPr>
          <a:xfrm rot="5859397">
            <a:off x="5620931" y="3003050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ghtning Bolt 8"/>
          <p:cNvSpPr/>
          <p:nvPr/>
        </p:nvSpPr>
        <p:spPr>
          <a:xfrm>
            <a:off x="1904999" y="3124201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ghtning Bolt 9"/>
          <p:cNvSpPr/>
          <p:nvPr/>
        </p:nvSpPr>
        <p:spPr>
          <a:xfrm rot="5859397">
            <a:off x="5620930" y="3003051"/>
            <a:ext cx="1524000" cy="11430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762000"/>
            <a:ext cx="13430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85800"/>
            <a:ext cx="131445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3581400"/>
            <a:ext cx="12477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91400" y="3581400"/>
            <a:ext cx="10763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685800"/>
            <a:ext cx="75438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447800"/>
            <a:ext cx="68580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1905000"/>
            <a:ext cx="21431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95400" y="2514600"/>
            <a:ext cx="48387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71600" y="3048000"/>
            <a:ext cx="56483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47800" y="3429000"/>
            <a:ext cx="40481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66800" y="4114800"/>
            <a:ext cx="2886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143000" y="4572000"/>
            <a:ext cx="42481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143000" y="5105400"/>
            <a:ext cx="47244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143000" y="5562600"/>
            <a:ext cx="47244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143000"/>
            <a:ext cx="768985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371600"/>
            <a:ext cx="727075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834532"/>
            <a:ext cx="7620000" cy="4886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828800"/>
            <a:ext cx="7627804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447800"/>
            <a:ext cx="7848600" cy="4083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What is Hadoop</a:t>
            </a:r>
            <a:r>
              <a:rPr lang="en-US" sz="2800" b="1" dirty="0" smtClean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19200"/>
            <a:ext cx="570547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143000" y="44196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Massive Quantity of data need Fast and Refillable  solution to process the data , therefore Big data Solutions like Hadoop More reliable  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 smtClean="0">
                <a:solidFill>
                  <a:schemeClr val="tx2"/>
                </a:solidFill>
              </a:rPr>
              <a:t>Hadoop</a:t>
            </a:r>
            <a:r>
              <a:rPr lang="en-US" sz="2800" b="1" dirty="0" smtClean="0">
                <a:solidFill>
                  <a:schemeClr val="tx2"/>
                </a:solidFill>
              </a:rPr>
              <a:t> related open source projects</a:t>
            </a:r>
          </a:p>
        </p:txBody>
      </p:sp>
      <p:pic>
        <p:nvPicPr>
          <p:cNvPr id="13" name="Picture 12" descr="Hadoop-Ecosystem-2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320"/>
            <a:ext cx="9144000" cy="5440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81000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solidFill>
                  <a:schemeClr val="tx2"/>
                </a:solidFill>
              </a:rPr>
              <a:t>Example of </a:t>
            </a:r>
            <a:r>
              <a:rPr lang="en-US" sz="2800" b="1" dirty="0" err="1" smtClean="0">
                <a:solidFill>
                  <a:schemeClr val="tx2"/>
                </a:solidFill>
              </a:rPr>
              <a:t>Hadoop</a:t>
            </a:r>
            <a:r>
              <a:rPr lang="en-US" sz="2800" b="1" dirty="0" smtClean="0">
                <a:solidFill>
                  <a:schemeClr val="tx2"/>
                </a:solidFill>
              </a:rPr>
              <a:t>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524000"/>
            <a:ext cx="8458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In the Telecom industries</a:t>
            </a:r>
          </a:p>
          <a:p>
            <a:endParaRPr lang="en-US" sz="2400" dirty="0" smtClean="0"/>
          </a:p>
          <a:p>
            <a:r>
              <a:rPr lang="en-US" sz="2400" dirty="0" smtClean="0"/>
              <a:t>China Mobile, a company that built a </a:t>
            </a:r>
            <a:r>
              <a:rPr lang="en-US" sz="2400" dirty="0" err="1" smtClean="0"/>
              <a:t>Hadoop</a:t>
            </a:r>
            <a:r>
              <a:rPr lang="en-US" sz="2400" dirty="0" smtClean="0"/>
              <a:t> cluster to perform data mining on Call Data Records</a:t>
            </a:r>
            <a:r>
              <a:rPr lang="en-US" sz="2400" b="1" dirty="0" smtClean="0"/>
              <a:t> </a:t>
            </a:r>
          </a:p>
          <a:p>
            <a:endParaRPr lang="en-US" sz="2400" dirty="0" smtClean="0"/>
          </a:p>
          <a:p>
            <a:r>
              <a:rPr lang="en-US" sz="2400" dirty="0" smtClean="0"/>
              <a:t>China Mobile was producing 5-8TB of these records daily</a:t>
            </a:r>
          </a:p>
          <a:p>
            <a:endParaRPr lang="en-US" sz="2400" b="1" dirty="0" smtClean="0"/>
          </a:p>
          <a:p>
            <a:r>
              <a:rPr lang="en-US" sz="2400" dirty="0" err="1" smtClean="0"/>
              <a:t>Hadoop</a:t>
            </a:r>
            <a:r>
              <a:rPr lang="en-US" sz="2400" dirty="0" smtClean="0"/>
              <a:t>-based system they were able to process 10 times as much data as when using their old system, and at one fifth of the cost</a:t>
            </a:r>
            <a:endParaRPr lang="en-US" sz="2400" b="1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solidFill>
                  <a:schemeClr val="tx2"/>
                </a:solidFill>
              </a:rPr>
              <a:t>Example of </a:t>
            </a:r>
            <a:r>
              <a:rPr lang="en-US" sz="2800" b="1" dirty="0" err="1" smtClean="0">
                <a:solidFill>
                  <a:schemeClr val="tx2"/>
                </a:solidFill>
              </a:rPr>
              <a:t>Hadoop</a:t>
            </a:r>
            <a:r>
              <a:rPr lang="en-US" sz="2800" b="1" dirty="0" smtClean="0">
                <a:solidFill>
                  <a:schemeClr val="tx2"/>
                </a:solidFill>
              </a:rPr>
              <a:t>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447800"/>
            <a:ext cx="7924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In the media </a:t>
            </a:r>
          </a:p>
          <a:p>
            <a:r>
              <a:rPr lang="en-US" sz="2400" dirty="0" smtClean="0"/>
              <a:t>we have the New York Times which wanted to host on</a:t>
            </a:r>
          </a:p>
          <a:p>
            <a:r>
              <a:rPr lang="en-US" sz="2400" dirty="0" smtClean="0"/>
              <a:t>their website all public domain articles from 1851 to 1922.</a:t>
            </a:r>
          </a:p>
          <a:p>
            <a:endParaRPr lang="en-US" sz="2400" dirty="0" smtClean="0"/>
          </a:p>
          <a:p>
            <a:r>
              <a:rPr lang="en-US" sz="2400" dirty="0" smtClean="0"/>
              <a:t>They converted articles from 11 million image files to 1.5TB of PDF documents. </a:t>
            </a:r>
          </a:p>
          <a:p>
            <a:endParaRPr lang="en-US" sz="2400" dirty="0" smtClean="0"/>
          </a:p>
          <a:p>
            <a:r>
              <a:rPr lang="en-US" sz="2400" dirty="0" smtClean="0"/>
              <a:t>This was implemented by one employee who ran a job in 24 hours on a 100-instance Amazon EC2 </a:t>
            </a:r>
            <a:r>
              <a:rPr lang="en-US" sz="2400" dirty="0" err="1" smtClean="0"/>
              <a:t>Hadoop</a:t>
            </a:r>
            <a:r>
              <a:rPr lang="en-US" sz="2400" dirty="0" smtClean="0"/>
              <a:t> cluster at a very low cost.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579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solidFill>
                  <a:schemeClr val="tx2"/>
                </a:solidFill>
              </a:rPr>
              <a:t>Example of </a:t>
            </a:r>
            <a:r>
              <a:rPr lang="en-US" sz="2800" b="1" dirty="0" err="1" smtClean="0">
                <a:solidFill>
                  <a:schemeClr val="tx2"/>
                </a:solidFill>
              </a:rPr>
              <a:t>Hadoop</a:t>
            </a:r>
            <a:r>
              <a:rPr lang="en-US" sz="2800" b="1" dirty="0" smtClean="0">
                <a:solidFill>
                  <a:schemeClr val="tx2"/>
                </a:solidFill>
              </a:rPr>
              <a:t> in action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800" b="1" dirty="0" smtClean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524000"/>
            <a:ext cx="80010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 Technology</a:t>
            </a:r>
          </a:p>
          <a:p>
            <a:r>
              <a:rPr lang="en-US" sz="2400" dirty="0" smtClean="0"/>
              <a:t>There are also many internet or social network companies using </a:t>
            </a:r>
            <a:r>
              <a:rPr lang="en-US" sz="2400" dirty="0" err="1" smtClean="0"/>
              <a:t>Hadoop</a:t>
            </a:r>
            <a:r>
              <a:rPr lang="en-US" sz="2400" dirty="0" smtClean="0"/>
              <a:t> such as Yahoo, </a:t>
            </a:r>
            <a:r>
              <a:rPr lang="en-US" sz="2400" dirty="0" err="1" smtClean="0"/>
              <a:t>Facebook</a:t>
            </a:r>
            <a:r>
              <a:rPr lang="en-US" sz="2400" dirty="0" smtClean="0"/>
              <a:t>, Amazon, eBay, Twitter, </a:t>
            </a:r>
            <a:r>
              <a:rPr lang="en-US" sz="2400" dirty="0" err="1" smtClean="0"/>
              <a:t>StumbleUpon</a:t>
            </a:r>
            <a:r>
              <a:rPr lang="en-US" sz="2400" dirty="0" smtClean="0"/>
              <a:t>, </a:t>
            </a:r>
            <a:r>
              <a:rPr lang="en-US" sz="2400" dirty="0" err="1" smtClean="0"/>
              <a:t>Rackspace</a:t>
            </a:r>
            <a:r>
              <a:rPr lang="en-US" sz="2400" dirty="0" smtClean="0"/>
              <a:t>, </a:t>
            </a:r>
            <a:r>
              <a:rPr lang="en-US" sz="2400" dirty="0" err="1" smtClean="0"/>
              <a:t>Ning</a:t>
            </a:r>
            <a:r>
              <a:rPr lang="en-US" sz="2400" dirty="0" smtClean="0"/>
              <a:t>, AOL, and so on.</a:t>
            </a:r>
          </a:p>
          <a:p>
            <a:endParaRPr lang="en-US" dirty="0" smtClean="0"/>
          </a:p>
          <a:p>
            <a:r>
              <a:rPr lang="en-US" sz="2400" dirty="0" smtClean="0"/>
              <a:t>Yahoo is, of course, the largest production user with an application running a </a:t>
            </a:r>
            <a:r>
              <a:rPr lang="en-US" sz="2400" dirty="0" err="1" smtClean="0"/>
              <a:t>Hadoop</a:t>
            </a:r>
            <a:r>
              <a:rPr lang="en-US" sz="2400" dirty="0" smtClean="0"/>
              <a:t> cluster consisting of approximately 10,000 Linux machines</a:t>
            </a:r>
          </a:p>
          <a:p>
            <a:endParaRPr lang="en-US" dirty="0" smtClean="0"/>
          </a:p>
          <a:p>
            <a:r>
              <a:rPr lang="en-US" sz="2400" dirty="0" smtClean="0"/>
              <a:t>Yahoo is also the largest contributor to the </a:t>
            </a:r>
            <a:r>
              <a:rPr lang="en-US" sz="2400" dirty="0" err="1" smtClean="0"/>
              <a:t>Hadoop</a:t>
            </a:r>
            <a:r>
              <a:rPr lang="en-US" sz="2400" dirty="0" smtClean="0"/>
              <a:t> open source project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685800"/>
            <a:ext cx="96373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Hadoop</a:t>
            </a:r>
            <a:r>
              <a:rPr lang="en-US" sz="2400" dirty="0" smtClean="0"/>
              <a:t> is not a magic bullet that solves all kinds of problems.</a:t>
            </a:r>
          </a:p>
          <a:p>
            <a:r>
              <a:rPr lang="en-US" sz="2400" dirty="0" err="1" smtClean="0"/>
              <a:t>Hadoop</a:t>
            </a:r>
            <a:r>
              <a:rPr lang="en-US" sz="2400" dirty="0" smtClean="0"/>
              <a:t> is not good to process transactions due to its lack random</a:t>
            </a:r>
          </a:p>
          <a:p>
            <a:r>
              <a:rPr lang="en-US" sz="2400" dirty="0" smtClean="0"/>
              <a:t>access.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400" dirty="0" smtClean="0"/>
              <a:t>It is not good when the work cannot be parallelized or when there are</a:t>
            </a:r>
          </a:p>
          <a:p>
            <a:r>
              <a:rPr lang="en-US" sz="2400" dirty="0" smtClean="0"/>
              <a:t>dependencies within the data, that is, record one must be processed</a:t>
            </a:r>
          </a:p>
          <a:p>
            <a:r>
              <a:rPr lang="en-US" sz="2400" dirty="0" smtClean="0"/>
              <a:t>before record two.</a:t>
            </a:r>
          </a:p>
          <a:p>
            <a:endParaRPr lang="en-US" sz="2400" dirty="0" smtClean="0"/>
          </a:p>
          <a:p>
            <a:r>
              <a:rPr lang="en-US" sz="2400" dirty="0" smtClean="0"/>
              <a:t>It is not good for low latency data access.</a:t>
            </a:r>
          </a:p>
          <a:p>
            <a:endParaRPr lang="en-US" sz="2400" dirty="0" smtClean="0"/>
          </a:p>
          <a:p>
            <a:r>
              <a:rPr lang="en-US" sz="2400" dirty="0" smtClean="0"/>
              <a:t>Not good for processing lots of small files</a:t>
            </a:r>
          </a:p>
          <a:p>
            <a:endParaRPr lang="en-US" sz="2400" dirty="0" smtClean="0"/>
          </a:p>
          <a:p>
            <a:r>
              <a:rPr lang="en-US" sz="2400" dirty="0" smtClean="0"/>
              <a:t>And it is not good for intensive calculations with little data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524000"/>
            <a:ext cx="822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Big Data solutions are more than just </a:t>
            </a:r>
            <a:r>
              <a:rPr lang="en-US" sz="2400" dirty="0" err="1" smtClean="0"/>
              <a:t>Hadoop</a:t>
            </a:r>
            <a:r>
              <a:rPr lang="en-US" sz="2400" dirty="0" smtClean="0"/>
              <a:t>.  They can integrate analytic solutions to the mix to derive valuable information that can combine structured legacy data with new unstructured data.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Big data solutions may also be used to derive information from data in motion.</a:t>
            </a:r>
          </a:p>
          <a:p>
            <a:endParaRPr lang="en-US" sz="2400" dirty="0" smtClean="0"/>
          </a:p>
          <a:p>
            <a:r>
              <a:rPr lang="en-US" sz="2400" dirty="0" smtClean="0"/>
              <a:t>For example, IBM has a product called </a:t>
            </a:r>
            <a:r>
              <a:rPr lang="en-US" sz="2400" dirty="0" err="1" smtClean="0"/>
              <a:t>InfoSphere</a:t>
            </a:r>
            <a:r>
              <a:rPr lang="en-US" sz="2400" dirty="0" smtClean="0"/>
              <a:t> Streams that can be used to quickly determine customer sentiment for a new product based on </a:t>
            </a:r>
            <a:r>
              <a:rPr lang="en-US" sz="2400" dirty="0" err="1" smtClean="0"/>
              <a:t>Facebook</a:t>
            </a:r>
            <a:r>
              <a:rPr lang="en-US" sz="2400" dirty="0" smtClean="0"/>
              <a:t> or Twitter comments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solidFill>
                  <a:schemeClr val="tx2"/>
                </a:solidFill>
              </a:rPr>
              <a:t> </a:t>
            </a:r>
            <a:r>
              <a:rPr lang="en-US" sz="2800" b="1" dirty="0" err="1" smtClean="0">
                <a:solidFill>
                  <a:schemeClr val="tx2"/>
                </a:solidFill>
              </a:rPr>
              <a:t>Hadoop</a:t>
            </a:r>
            <a:r>
              <a:rPr lang="en-US" sz="2800" b="1" dirty="0" smtClean="0">
                <a:solidFill>
                  <a:schemeClr val="tx2"/>
                </a:solidFill>
              </a:rPr>
              <a:t> on Cloud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447800"/>
            <a:ext cx="754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Cloud computing has gained a tremendous track in the past few years, and it is a perfect fit for Big Data solutions.</a:t>
            </a:r>
          </a:p>
          <a:p>
            <a:endParaRPr lang="en-US" sz="2400" dirty="0" smtClean="0"/>
          </a:p>
          <a:p>
            <a:r>
              <a:rPr lang="en-US" sz="2400" dirty="0" smtClean="0"/>
              <a:t>Using the cloud, a </a:t>
            </a:r>
            <a:r>
              <a:rPr lang="en-US" sz="2400" dirty="0" err="1" smtClean="0"/>
              <a:t>Hadoop</a:t>
            </a:r>
            <a:r>
              <a:rPr lang="en-US" sz="2400" dirty="0" smtClean="0"/>
              <a:t> cluster can be setup in minutes, on </a:t>
            </a:r>
            <a:r>
              <a:rPr lang="en-US" sz="2400" smtClean="0"/>
              <a:t>demand, and </a:t>
            </a:r>
            <a:r>
              <a:rPr lang="en-US" sz="2400" dirty="0" smtClean="0"/>
              <a:t>it can run for as long as is needed without having to pay </a:t>
            </a:r>
            <a:r>
              <a:rPr lang="en-US" sz="2400" smtClean="0"/>
              <a:t>for more than </a:t>
            </a:r>
            <a:r>
              <a:rPr lang="en-US" sz="2400" dirty="0" smtClean="0"/>
              <a:t>what is used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649</Words>
  <Application>Microsoft Office PowerPoint</Application>
  <PresentationFormat>On-screen Show (4:3)</PresentationFormat>
  <Paragraphs>93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Slide 1</vt:lpstr>
      <vt:lpstr>What is data</vt:lpstr>
      <vt:lpstr>What is Big Data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babjee reddy</cp:lastModifiedBy>
  <cp:revision>20</cp:revision>
  <dcterms:created xsi:type="dcterms:W3CDTF">2016-04-14T04:26:17Z</dcterms:created>
  <dcterms:modified xsi:type="dcterms:W3CDTF">2025-02-10T04:15:03Z</dcterms:modified>
</cp:coreProperties>
</file>