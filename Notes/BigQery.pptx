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6" r:id="rId3"/>
    <p:sldId id="262" r:id="rId4"/>
    <p:sldId id="524" r:id="rId5"/>
    <p:sldId id="523" r:id="rId7"/>
    <p:sldId id="525" r:id="rId8"/>
    <p:sldId id="526" r:id="rId9"/>
    <p:sldId id="527" r:id="rId10"/>
    <p:sldId id="528" r:id="rId11"/>
    <p:sldId id="581" r:id="rId12"/>
    <p:sldId id="582" r:id="rId13"/>
    <p:sldId id="583" r:id="rId14"/>
    <p:sldId id="584" r:id="rId15"/>
    <p:sldId id="585" r:id="rId16"/>
    <p:sldId id="586" r:id="rId17"/>
    <p:sldId id="587" r:id="rId18"/>
    <p:sldId id="588" r:id="rId19"/>
    <p:sldId id="589" r:id="rId20"/>
    <p:sldId id="590" r:id="rId21"/>
    <p:sldId id="591" r:id="rId22"/>
    <p:sldId id="592" r:id="rId23"/>
    <p:sldId id="593" r:id="rId24"/>
    <p:sldId id="594" r:id="rId25"/>
    <p:sldId id="595" r:id="rId26"/>
    <p:sldId id="596" r:id="rId27"/>
    <p:sldId id="597" r:id="rId28"/>
    <p:sldId id="261" r:id="rId29"/>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6" userDrawn="1">
          <p15:clr>
            <a:srgbClr val="A4A3A4"/>
          </p15:clr>
        </p15:guide>
        <p15:guide id="2" pos="212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87" d="100"/>
          <a:sy n="87" d="100"/>
        </p:scale>
        <p:origin x="-676" y="-68"/>
      </p:cViewPr>
      <p:guideLst>
        <p:guide orient="horz" pos="2886"/>
        <p:guide pos="2123"/>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7947DE22-9E91-4192-903F-3C4AE46FA73D}" type="datetimeFigureOut">
              <a:rPr lang="en-US" smtClean="0"/>
            </a:fld>
            <a:endParaRPr lang="en-US"/>
          </a:p>
        </p:txBody>
      </p:sp>
      <p:sp>
        <p:nvSpPr>
          <p:cNvPr id="4" name="Slide Image Placeholder 3"/>
          <p:cNvSpPr>
            <a:spLocks noGrp="1" noRot="1" noChangeAspect="1"/>
          </p:cNvSpPr>
          <p:nvPr>
            <p:ph type="sldImg" idx="2"/>
          </p:nvPr>
        </p:nvSpPr>
        <p:spPr>
          <a:xfrm>
            <a:off x="2857500" y="385763"/>
            <a:ext cx="3429000" cy="19288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43163"/>
            <a:ext cx="7315200" cy="2314575"/>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4884738"/>
            <a:ext cx="3962400" cy="2571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4884738"/>
            <a:ext cx="3962400" cy="257175"/>
          </a:xfrm>
          <a:prstGeom prst="rect">
            <a:avLst/>
          </a:prstGeom>
        </p:spPr>
        <p:txBody>
          <a:bodyPr vert="horz" lIns="91440" tIns="45720" rIns="91440" bIns="45720" rtlCol="0" anchor="b"/>
          <a:lstStyle>
            <a:lvl1pPr algn="r">
              <a:defRPr sz="1200"/>
            </a:lvl1pPr>
          </a:lstStyle>
          <a:p>
            <a:fld id="{9297C5A8-19BE-4F99-84F1-2DBB255A6B1E}"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marL="742950" lvl="1" indent="-285750">
              <a:spcBef>
                <a:spcPts val="600"/>
              </a:spcBef>
              <a:buFont typeface="Arial" panose="020B0604020202020204" pitchFamily="34" charset="0"/>
              <a:buChar char="•"/>
            </a:pPr>
            <a:r>
              <a:rPr lang="en-US" altLang="en-GB" dirty="0">
                <a:sym typeface="+mn-ea"/>
              </a:rPr>
              <a:t>BigQuery is Google Cloud’s serverless enterprise data warehouse.</a:t>
            </a:r>
            <a:endParaRPr lang="en-US" altLang="en-GB" dirty="0"/>
          </a:p>
          <a:p>
            <a:pPr marL="742950" lvl="1" indent="-285750">
              <a:spcBef>
                <a:spcPts val="600"/>
              </a:spcBef>
              <a:buFont typeface="Arial" panose="020B0604020202020204" pitchFamily="34" charset="0"/>
              <a:buChar char="•"/>
            </a:pPr>
            <a:r>
              <a:rPr lang="en-US" altLang="en-GB" dirty="0">
                <a:sym typeface="+mn-ea"/>
              </a:rPr>
              <a:t>You do not manage servers, indexes, or infrastructure.</a:t>
            </a:r>
            <a:endParaRPr lang="en-US" altLang="en-GB" dirty="0"/>
          </a:p>
          <a:p>
            <a:pPr marL="742950" lvl="1" indent="-285750">
              <a:spcBef>
                <a:spcPts val="600"/>
              </a:spcBef>
              <a:buFont typeface="Arial" panose="020B0604020202020204" pitchFamily="34" charset="0"/>
              <a:buChar char="•"/>
            </a:pPr>
            <a:r>
              <a:rPr lang="en-US" altLang="en-GB" dirty="0">
                <a:sym typeface="+mn-ea"/>
              </a:rPr>
              <a:t>It separates compute from storage and scales automatically.</a:t>
            </a:r>
            <a:endParaRPr lang="en-US" alt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indent="0">
              <a:spcBef>
                <a:spcPts val="600"/>
              </a:spcBef>
              <a:buFont typeface="Arial" panose="020B0604020202020204" pitchFamily="34" charset="0"/>
              <a:buNone/>
            </a:pPr>
            <a:r>
              <a:rPr lang="en-US" altLang="en-GB"/>
              <a:t>BigQuery stores data in columnar format </a:t>
            </a:r>
            <a:r>
              <a:rPr lang="en-US" altLang="en-US"/>
              <a:t>→</a:t>
            </a:r>
            <a:r>
              <a:rPr lang="en-US" altLang="en-GB"/>
              <a:t> faster analytics.</a:t>
            </a:r>
            <a:endParaRPr lang="en-US" altLang="en-GB"/>
          </a:p>
          <a:p>
            <a:pPr indent="0">
              <a:spcBef>
                <a:spcPts val="600"/>
              </a:spcBef>
              <a:buFont typeface="Arial" panose="020B0604020202020204" pitchFamily="34" charset="0"/>
              <a:buNone/>
            </a:pPr>
            <a:r>
              <a:rPr lang="en-US" altLang="en-GB"/>
              <a:t>Separation of compute &amp; storage means:</a:t>
            </a:r>
            <a:endParaRPr lang="en-US" altLang="en-GB"/>
          </a:p>
          <a:p>
            <a:pPr indent="457200">
              <a:spcBef>
                <a:spcPts val="600"/>
              </a:spcBef>
              <a:buFont typeface="Arial" panose="020B0604020202020204" pitchFamily="34" charset="0"/>
              <a:buNone/>
            </a:pPr>
            <a:r>
              <a:rPr lang="en-US" altLang="en-GB"/>
              <a:t>Storage billed separately</a:t>
            </a:r>
            <a:endParaRPr lang="en-US" altLang="en-GB"/>
          </a:p>
          <a:p>
            <a:pPr indent="457200">
              <a:spcBef>
                <a:spcPts val="600"/>
              </a:spcBef>
              <a:buFont typeface="Arial" panose="020B0604020202020204" pitchFamily="34" charset="0"/>
              <a:buNone/>
            </a:pPr>
            <a:r>
              <a:rPr lang="en-US" altLang="en-GB"/>
              <a:t>Query compute billed separately</a:t>
            </a:r>
            <a:endParaRPr lang="en-US" alt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indent="0">
              <a:spcBef>
                <a:spcPts val="600"/>
              </a:spcBef>
              <a:buFont typeface="Arial" panose="020B0604020202020204" pitchFamily="34" charset="0"/>
              <a:buNone/>
            </a:pPr>
            <a:endParaRPr lang="en-US" alt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indent="0">
              <a:spcBef>
                <a:spcPts val="600"/>
              </a:spcBef>
              <a:buFont typeface="Arial" panose="020B0604020202020204" pitchFamily="34" charset="0"/>
              <a:buNone/>
            </a:pPr>
            <a:endParaRPr lang="en-US" alt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indent="0">
              <a:spcBef>
                <a:spcPts val="600"/>
              </a:spcBef>
              <a:buFont typeface="Arial" panose="020B0604020202020204" pitchFamily="34" charset="0"/>
              <a:buNone/>
            </a:pPr>
            <a:endParaRPr lang="en-US" alt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indent="0">
              <a:spcBef>
                <a:spcPts val="600"/>
              </a:spcBef>
              <a:buFont typeface="Arial" panose="020B0604020202020204" pitchFamily="34" charset="0"/>
              <a:buNone/>
            </a:pPr>
            <a:endParaRPr lang="en-US" alt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indent="0">
              <a:spcBef>
                <a:spcPts val="600"/>
              </a:spcBef>
              <a:buFont typeface="Arial" panose="020B0604020202020204" pitchFamily="34" charset="0"/>
              <a:buNone/>
            </a:pPr>
            <a:endParaRPr lang="en-US" alt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indent="0">
              <a:spcBef>
                <a:spcPts val="600"/>
              </a:spcBef>
              <a:buFont typeface="Arial" panose="020B0604020202020204" pitchFamily="34" charset="0"/>
              <a:buNone/>
            </a:pPr>
            <a:endParaRPr lang="en-US" alt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indent="0">
              <a:spcBef>
                <a:spcPts val="600"/>
              </a:spcBef>
              <a:buFont typeface="Arial" panose="020B0604020202020204" pitchFamily="34" charset="0"/>
              <a:buNone/>
            </a:pPr>
            <a:endParaRPr lang="en-US" alt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indent="0">
              <a:spcBef>
                <a:spcPts val="600"/>
              </a:spcBef>
              <a:buFont typeface="Arial" panose="020B0604020202020204" pitchFamily="34" charset="0"/>
              <a:buNone/>
            </a:pPr>
            <a:endParaRPr lang="en-US" alt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indent="0">
              <a:spcBef>
                <a:spcPts val="600"/>
              </a:spcBef>
              <a:buFont typeface="Arial" panose="020B0604020202020204" pitchFamily="34" charset="0"/>
              <a:buNone/>
            </a:pPr>
            <a:endParaRPr lang="en-US" alt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indent="0">
              <a:spcBef>
                <a:spcPts val="600"/>
              </a:spcBef>
              <a:buFont typeface="Arial" panose="020B0604020202020204" pitchFamily="34" charset="0"/>
              <a:buNone/>
            </a:pPr>
            <a:endParaRPr lang="en-US" alt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indent="0">
              <a:spcBef>
                <a:spcPts val="600"/>
              </a:spcBef>
              <a:buFont typeface="Arial" panose="020B0604020202020204" pitchFamily="34" charset="0"/>
              <a:buNone/>
            </a:pPr>
            <a:endParaRPr lang="en-US" alt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indent="0">
              <a:spcBef>
                <a:spcPts val="600"/>
              </a:spcBef>
              <a:buFont typeface="Arial" panose="020B0604020202020204" pitchFamily="34" charset="0"/>
              <a:buNone/>
            </a:pPr>
            <a:endParaRPr lang="en-US" alt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indent="0">
              <a:spcBef>
                <a:spcPts val="600"/>
              </a:spcBef>
              <a:buFont typeface="Arial" panose="020B0604020202020204" pitchFamily="34" charset="0"/>
              <a:buNone/>
            </a:pPr>
            <a:endParaRPr lang="en-US" alt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indent="0">
              <a:spcBef>
                <a:spcPts val="600"/>
              </a:spcBef>
              <a:buFont typeface="Arial" panose="020B0604020202020204" pitchFamily="34" charset="0"/>
              <a:buNone/>
            </a:pPr>
            <a:endParaRPr lang="en-US" alt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indent="0">
              <a:spcBef>
                <a:spcPts val="600"/>
              </a:spcBef>
              <a:buFont typeface="Arial" panose="020B0604020202020204" pitchFamily="34" charset="0"/>
              <a:buNone/>
            </a:pPr>
            <a:endParaRPr lang="en-US" alt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indent="0">
              <a:spcBef>
                <a:spcPts val="600"/>
              </a:spcBef>
              <a:buFont typeface="Arial" panose="020B0604020202020204" pitchFamily="34" charset="0"/>
              <a:buNone/>
            </a:pPr>
            <a:endParaRPr lang="en-US" altLang="en-GB"/>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indent="0">
              <a:spcBef>
                <a:spcPts val="600"/>
              </a:spcBef>
              <a:buFont typeface="Arial" panose="020B0604020202020204" pitchFamily="34" charset="0"/>
              <a:buNone/>
            </a:pPr>
            <a:endParaRPr lang="en-US" altLang="en-GB"/>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indent="0">
              <a:spcBef>
                <a:spcPts val="600"/>
              </a:spcBef>
              <a:buFont typeface="Arial" panose="020B0604020202020204" pitchFamily="34" charset="0"/>
              <a:buNone/>
            </a:pPr>
            <a:endParaRPr lang="en-US" altLang="en-GB"/>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indent="0">
              <a:spcBef>
                <a:spcPts val="600"/>
              </a:spcBef>
              <a:buFont typeface="Arial" panose="020B0604020202020204" pitchFamily="34" charset="0"/>
              <a:buNone/>
            </a:pPr>
            <a:endParaRPr lang="en-US" altLang="en-GB"/>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indent="0">
              <a:spcBef>
                <a:spcPts val="600"/>
              </a:spcBef>
              <a:buFont typeface="Arial" panose="020B0604020202020204" pitchFamily="34" charset="0"/>
              <a:buNone/>
            </a:pPr>
            <a:endParaRPr lang="en-US" altLang="en-GB"/>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indent="0">
              <a:spcBef>
                <a:spcPts val="600"/>
              </a:spcBef>
              <a:buFont typeface="Arial" panose="020B0604020202020204" pitchFamily="34" charset="0"/>
              <a:buNone/>
            </a:pPr>
            <a:endParaRPr lang="en-US" alt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sz="2400" b="1" i="0">
                <a:solidFill>
                  <a:srgbClr val="2E3BAE"/>
                </a:solidFill>
                <a:latin typeface="Calibri" panose="020F0502020204030204"/>
                <a:cs typeface="Calibri" panose="020F0502020204030204"/>
              </a:defRPr>
            </a:lvl1pPr>
          </a:lstStyle>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2E3BAE"/>
                </a:solidFill>
                <a:latin typeface="Calibri" panose="020F0502020204030204"/>
                <a:cs typeface="Calibri" panose="020F0502020204030204"/>
              </a:defRPr>
            </a:lvl1pPr>
          </a:lstStyle>
          <a:p/>
        </p:txBody>
      </p:sp>
      <p:sp>
        <p:nvSpPr>
          <p:cNvPr id="3" name="Holder 3"/>
          <p:cNvSpPr>
            <a:spLocks noGrp="1"/>
          </p:cNvSpPr>
          <p:nvPr>
            <p:ph type="body" idx="1"/>
          </p:nvPr>
        </p:nvSpPr>
        <p:spPr/>
        <p:txBody>
          <a:bodyPr lIns="0" tIns="0" rIns="0" bIns="0"/>
          <a:lstStyle>
            <a:lvl1pPr>
              <a:defRPr b="0" i="0">
                <a:solidFill>
                  <a:schemeClr val="tx1"/>
                </a:solidFill>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2E3BAE"/>
                </a:solidFill>
                <a:latin typeface="Calibri" panose="020F0502020204030204"/>
                <a:cs typeface="Calibri" panose="020F0502020204030204"/>
              </a:defRPr>
            </a:lvl1pPr>
          </a:lstStyle>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showMasterSp="0">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5143500"/>
          </a:xfrm>
          <a:custGeom>
            <a:avLst/>
            <a:gdLst/>
            <a:ahLst/>
            <a:cxnLst/>
            <a:rect l="l" t="t" r="r" b="b"/>
            <a:pathLst>
              <a:path w="9144000" h="5143500">
                <a:moveTo>
                  <a:pt x="9143999" y="5143499"/>
                </a:moveTo>
                <a:lnTo>
                  <a:pt x="0" y="5143499"/>
                </a:lnTo>
                <a:lnTo>
                  <a:pt x="0" y="0"/>
                </a:lnTo>
                <a:lnTo>
                  <a:pt x="9143999" y="0"/>
                </a:lnTo>
                <a:lnTo>
                  <a:pt x="9143999" y="5143499"/>
                </a:lnTo>
                <a:close/>
              </a:path>
            </a:pathLst>
          </a:custGeom>
          <a:solidFill>
            <a:srgbClr val="2E3BAE"/>
          </a:solidFill>
        </p:spPr>
        <p:txBody>
          <a:bodyPr wrap="square" lIns="0" tIns="0" rIns="0" bIns="0" rtlCol="0"/>
          <a:lstStyle/>
          <a:p/>
        </p:txBody>
      </p:sp>
      <p:sp>
        <p:nvSpPr>
          <p:cNvPr id="2" name="Holder 2"/>
          <p:cNvSpPr>
            <a:spLocks noGrp="1"/>
          </p:cNvSpPr>
          <p:nvPr>
            <p:ph type="title"/>
          </p:nvPr>
        </p:nvSpPr>
        <p:spPr/>
        <p:txBody>
          <a:bodyPr lIns="0" tIns="0" rIns="0" bIns="0"/>
          <a:lstStyle>
            <a:lvl1pPr>
              <a:defRPr sz="2400" b="1" i="0">
                <a:solidFill>
                  <a:srgbClr val="2E3BAE"/>
                </a:solidFill>
                <a:latin typeface="Calibri" panose="020F0502020204030204"/>
                <a:cs typeface="Calibri" panose="020F050202020403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12900" y="322232"/>
            <a:ext cx="5715635" cy="440055"/>
          </a:xfrm>
          <a:prstGeom prst="rect">
            <a:avLst/>
          </a:prstGeom>
        </p:spPr>
        <p:txBody>
          <a:bodyPr wrap="square" lIns="0" tIns="0" rIns="0" bIns="0">
            <a:spAutoFit/>
          </a:bodyPr>
          <a:lstStyle>
            <a:lvl1pPr>
              <a:defRPr sz="2400" b="1" i="0">
                <a:solidFill>
                  <a:srgbClr val="2E3BAE"/>
                </a:solidFill>
                <a:latin typeface="Calibri" panose="020F0502020204030204"/>
                <a:cs typeface="Calibri" panose="020F0502020204030204"/>
              </a:defRPr>
            </a:lvl1pPr>
          </a:lstStyle>
          <a:p/>
        </p:txBody>
      </p:sp>
      <p:sp>
        <p:nvSpPr>
          <p:cNvPr id="3" name="Holder 3"/>
          <p:cNvSpPr>
            <a:spLocks noGrp="1"/>
          </p:cNvSpPr>
          <p:nvPr>
            <p:ph type="body" idx="1"/>
          </p:nvPr>
        </p:nvSpPr>
        <p:spPr>
          <a:xfrm>
            <a:off x="572687" y="1053737"/>
            <a:ext cx="8305800" cy="3527425"/>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9050"/>
            <a:ext cx="9144000" cy="5143500"/>
          </a:xfrm>
          <a:custGeom>
            <a:avLst/>
            <a:gdLst/>
            <a:ahLst/>
            <a:cxnLst/>
            <a:rect l="l" t="t" r="r" b="b"/>
            <a:pathLst>
              <a:path w="9144000" h="5143500">
                <a:moveTo>
                  <a:pt x="9143999" y="5143499"/>
                </a:moveTo>
                <a:lnTo>
                  <a:pt x="0" y="5143499"/>
                </a:lnTo>
                <a:lnTo>
                  <a:pt x="0" y="0"/>
                </a:lnTo>
                <a:lnTo>
                  <a:pt x="9143999" y="0"/>
                </a:lnTo>
                <a:lnTo>
                  <a:pt x="9143999" y="5143499"/>
                </a:lnTo>
                <a:close/>
              </a:path>
            </a:pathLst>
          </a:custGeom>
          <a:solidFill>
            <a:srgbClr val="2E3BAE"/>
          </a:solidFill>
        </p:spPr>
        <p:txBody>
          <a:bodyPr wrap="square" lIns="0" tIns="0" rIns="0" bIns="0" rtlCol="0"/>
          <a:lstStyle/>
          <a:p/>
        </p:txBody>
      </p:sp>
      <p:pic>
        <p:nvPicPr>
          <p:cNvPr id="3" name="object 3"/>
          <p:cNvPicPr/>
          <p:nvPr/>
        </p:nvPicPr>
        <p:blipFill>
          <a:blip r:embed="rId1" cstate="print"/>
          <a:stretch>
            <a:fillRect/>
          </a:stretch>
        </p:blipFill>
        <p:spPr>
          <a:xfrm>
            <a:off x="2057400" y="1047750"/>
            <a:ext cx="2133336" cy="5137782"/>
          </a:xfrm>
          <a:prstGeom prst="rect">
            <a:avLst/>
          </a:prstGeom>
        </p:spPr>
      </p:pic>
      <p:sp>
        <p:nvSpPr>
          <p:cNvPr id="4" name="object 4"/>
          <p:cNvSpPr txBox="1"/>
          <p:nvPr/>
        </p:nvSpPr>
        <p:spPr>
          <a:xfrm>
            <a:off x="1132475" y="1880841"/>
            <a:ext cx="5709920" cy="715645"/>
          </a:xfrm>
          <a:prstGeom prst="rect">
            <a:avLst/>
          </a:prstGeom>
        </p:spPr>
        <p:txBody>
          <a:bodyPr vert="horz" wrap="square" lIns="0" tIns="146685" rIns="0" bIns="0" rtlCol="0">
            <a:spAutoFit/>
          </a:bodyPr>
          <a:lstStyle/>
          <a:p>
            <a:pPr marL="12700">
              <a:lnSpc>
                <a:spcPct val="100000"/>
              </a:lnSpc>
              <a:spcBef>
                <a:spcPts val="1155"/>
              </a:spcBef>
            </a:pPr>
            <a:r>
              <a:rPr lang="en-US" altLang="en-IN" sz="3700" b="1" spc="220" dirty="0" smtClean="0">
                <a:solidFill>
                  <a:srgbClr val="FFFFFF"/>
                </a:solidFill>
                <a:latin typeface="Calibri" panose="020F0502020204030204"/>
                <a:cs typeface="Calibri" panose="020F0502020204030204"/>
              </a:rPr>
              <a:t>BigQuery</a:t>
            </a:r>
            <a:endParaRPr lang="en-US" altLang="en-IN" sz="3700" b="1" spc="220" dirty="0" smtClean="0">
              <a:solidFill>
                <a:srgbClr val="FFFFFF"/>
              </a:solidFill>
              <a:latin typeface="Calibri" panose="020F0502020204030204"/>
              <a:cs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33400" y="819150"/>
            <a:ext cx="8305800" cy="3816350"/>
          </a:xfrm>
        </p:spPr>
        <p:txBody>
          <a:bodyPr/>
          <a:lstStyle/>
          <a:p>
            <a:pPr marL="285750" indent="-285750">
              <a:spcBef>
                <a:spcPts val="600"/>
              </a:spcBef>
              <a:buFont typeface="Arial" panose="020B0604020202020204" pitchFamily="34" charset="0"/>
              <a:buChar char="•"/>
            </a:pPr>
            <a:r>
              <a:rPr lang="en-US" altLang="en-GB" b="1" dirty="0"/>
              <a:t>Introduction to BigQuery</a:t>
            </a:r>
            <a:endParaRPr lang="en-US" altLang="en-GB" b="1" dirty="0"/>
          </a:p>
          <a:p>
            <a:pPr marL="285750" indent="-285750">
              <a:spcBef>
                <a:spcPts val="600"/>
              </a:spcBef>
              <a:buFont typeface="Arial" panose="020B0604020202020204" pitchFamily="34" charset="0"/>
              <a:buChar char="•"/>
            </a:pPr>
            <a:r>
              <a:rPr lang="en-US" altLang="en-GB" b="1" dirty="0"/>
              <a:t>Data Organization</a:t>
            </a:r>
            <a:endParaRPr lang="en-US" altLang="en-GB" b="1" dirty="0"/>
          </a:p>
          <a:p>
            <a:pPr marL="285750" indent="-285750">
              <a:spcBef>
                <a:spcPts val="600"/>
              </a:spcBef>
              <a:buFont typeface="Arial" panose="020B0604020202020204" pitchFamily="34" charset="0"/>
              <a:buChar char="•"/>
            </a:pPr>
            <a:r>
              <a:rPr lang="en-US" altLang="en-GB" b="1" dirty="0"/>
              <a:t>Native vs External Tables</a:t>
            </a:r>
            <a:endParaRPr lang="en-US" altLang="en-GB" b="1" dirty="0"/>
          </a:p>
          <a:p>
            <a:pPr marL="285750" indent="-285750">
              <a:spcBef>
                <a:spcPts val="600"/>
              </a:spcBef>
              <a:buFont typeface="Arial" panose="020B0604020202020204" pitchFamily="34" charset="0"/>
              <a:buChar char="•"/>
            </a:pPr>
            <a:r>
              <a:rPr lang="en-US" altLang="en-GB" b="1" dirty="0"/>
              <a:t>Data Ingestion Methods</a:t>
            </a:r>
            <a:endParaRPr lang="en-US" altLang="en-GB" b="1" dirty="0"/>
          </a:p>
          <a:p>
            <a:pPr marL="285750" indent="-285750">
              <a:spcBef>
                <a:spcPts val="600"/>
              </a:spcBef>
              <a:buFont typeface="Arial" panose="020B0604020202020204" pitchFamily="34" charset="0"/>
              <a:buChar char="•"/>
            </a:pPr>
            <a:r>
              <a:rPr lang="en-US" altLang="en-GB" b="1" dirty="0"/>
              <a:t>GoogleSQL</a:t>
            </a:r>
            <a:endParaRPr lang="en-US" altLang="en-GB" b="1" dirty="0"/>
          </a:p>
          <a:p>
            <a:pPr marL="285750" indent="-285750">
              <a:spcBef>
                <a:spcPts val="600"/>
              </a:spcBef>
              <a:buFont typeface="Arial" panose="020B0604020202020204" pitchFamily="34" charset="0"/>
              <a:buChar char="•"/>
            </a:pPr>
            <a:r>
              <a:rPr lang="en-US" altLang="en-GB" b="1" dirty="0"/>
              <a:t>Data Manipulation (DML)</a:t>
            </a:r>
            <a:endParaRPr lang="en-US" altLang="en-GB" b="1" dirty="0"/>
          </a:p>
          <a:p>
            <a:pPr marL="285750" indent="-285750">
              <a:spcBef>
                <a:spcPts val="600"/>
              </a:spcBef>
              <a:buFont typeface="Arial" panose="020B0604020202020204" pitchFamily="34" charset="0"/>
              <a:buChar char="•"/>
            </a:pPr>
            <a:r>
              <a:rPr lang="en-US" altLang="en-GB" b="1" dirty="0"/>
              <a:t>Partitioning &amp; Clustering</a:t>
            </a:r>
            <a:endParaRPr lang="en-US" altLang="en-GB" b="1" dirty="0"/>
          </a:p>
          <a:p>
            <a:pPr marL="285750" indent="-285750">
              <a:spcBef>
                <a:spcPts val="600"/>
              </a:spcBef>
              <a:buFont typeface="Arial" panose="020B0604020202020204" pitchFamily="34" charset="0"/>
              <a:buChar char="•"/>
            </a:pPr>
            <a:r>
              <a:rPr lang="en-US" altLang="en-GB" b="1" dirty="0"/>
              <a:t>Materialized Views</a:t>
            </a:r>
            <a:endParaRPr lang="en-US" altLang="en-GB" b="1" dirty="0"/>
          </a:p>
          <a:p>
            <a:pPr marL="285750" indent="-285750">
              <a:spcBef>
                <a:spcPts val="600"/>
              </a:spcBef>
              <a:buFont typeface="Arial" panose="020B0604020202020204" pitchFamily="34" charset="0"/>
              <a:buChar char="•"/>
            </a:pPr>
            <a:r>
              <a:rPr lang="en-US" altLang="en-GB" b="1" dirty="0"/>
              <a:t>Pricing Model</a:t>
            </a:r>
            <a:endParaRPr lang="en-US" altLang="en-GB" b="1" dirty="0"/>
          </a:p>
          <a:p>
            <a:pPr marL="285750" indent="-285750">
              <a:spcBef>
                <a:spcPts val="600"/>
              </a:spcBef>
              <a:buFont typeface="Arial" panose="020B0604020202020204" pitchFamily="34" charset="0"/>
              <a:buChar char="•"/>
            </a:pPr>
            <a:r>
              <a:rPr lang="en-US" altLang="en-GB" b="1" dirty="0"/>
              <a:t>Advantages &amp; Limitations</a:t>
            </a:r>
            <a:endParaRPr lang="en-US" altLang="en-GB" b="1" dirty="0"/>
          </a:p>
          <a:p>
            <a:pPr marL="285750" indent="-285750">
              <a:spcBef>
                <a:spcPts val="600"/>
              </a:spcBef>
              <a:buFont typeface="Arial" panose="020B0604020202020204" pitchFamily="34" charset="0"/>
              <a:buChar char="•"/>
            </a:pPr>
            <a:r>
              <a:rPr lang="en-US" altLang="en-GB" b="1" dirty="0"/>
              <a:t>Best Practices</a:t>
            </a:r>
            <a:endParaRPr lang="en-US" altLang="en-GB" b="1" dirty="0"/>
          </a:p>
        </p:txBody>
      </p:sp>
      <p:pic>
        <p:nvPicPr>
          <p:cNvPr id="4" name="object 4"/>
          <p:cNvPicPr/>
          <p:nvPr/>
        </p:nvPicPr>
        <p:blipFill>
          <a:blip r:embed="rId1" cstate="print"/>
          <a:stretch>
            <a:fillRect/>
          </a:stretch>
        </p:blipFill>
        <p:spPr>
          <a:xfrm>
            <a:off x="7574825" y="116833"/>
            <a:ext cx="1492973" cy="309799"/>
          </a:xfrm>
          <a:prstGeom prst="rect">
            <a:avLst/>
          </a:prstGeom>
        </p:spPr>
      </p:pic>
      <p:sp>
        <p:nvSpPr>
          <p:cNvPr id="5" name="Title 4"/>
          <p:cNvSpPr/>
          <p:nvPr>
            <p:ph type="title"/>
          </p:nvPr>
        </p:nvSpPr>
        <p:spPr>
          <a:xfrm>
            <a:off x="512900" y="322232"/>
            <a:ext cx="5715635" cy="368935"/>
          </a:xfrm>
        </p:spPr>
        <p:txBody>
          <a:bodyPr/>
          <a:p>
            <a:r>
              <a:rPr lang="en-US" altLang="en-GB"/>
              <a:t>Agenda</a:t>
            </a:r>
            <a:endParaRPr lang="en-US" altLang="en-GB"/>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33400" y="819150"/>
            <a:ext cx="8495665" cy="2400300"/>
          </a:xfrm>
        </p:spPr>
        <p:txBody>
          <a:bodyPr wrap="square"/>
          <a:lstStyle/>
          <a:p>
            <a:pPr marL="742950" lvl="1" indent="-285750">
              <a:spcBef>
                <a:spcPts val="600"/>
              </a:spcBef>
              <a:buFont typeface="Arial" panose="020B0604020202020204" pitchFamily="34" charset="0"/>
              <a:buChar char="•"/>
            </a:pPr>
            <a:r>
              <a:rPr lang="en-US" altLang="en-GB" dirty="0"/>
              <a:t>Fully managed data warehouse</a:t>
            </a:r>
            <a:endParaRPr lang="en-US" altLang="en-GB" dirty="0"/>
          </a:p>
          <a:p>
            <a:pPr marL="742950" lvl="1" indent="-285750">
              <a:spcBef>
                <a:spcPts val="600"/>
              </a:spcBef>
              <a:buFont typeface="Arial" panose="020B0604020202020204" pitchFamily="34" charset="0"/>
              <a:buChar char="•"/>
            </a:pPr>
            <a:r>
              <a:rPr lang="en-US" altLang="en-GB" dirty="0"/>
              <a:t>Serverless</a:t>
            </a:r>
            <a:endParaRPr lang="en-US" altLang="en-GB" dirty="0"/>
          </a:p>
          <a:p>
            <a:pPr marL="742950" lvl="1" indent="-285750">
              <a:spcBef>
                <a:spcPts val="600"/>
              </a:spcBef>
              <a:buFont typeface="Arial" panose="020B0604020202020204" pitchFamily="34" charset="0"/>
              <a:buChar char="•"/>
            </a:pPr>
            <a:r>
              <a:rPr lang="en-US" altLang="en-GB" dirty="0"/>
              <a:t>Petabyte-scale analytics</a:t>
            </a:r>
            <a:endParaRPr lang="en-US" altLang="en-GB" dirty="0"/>
          </a:p>
          <a:p>
            <a:pPr marL="742950" lvl="1" indent="-285750">
              <a:spcBef>
                <a:spcPts val="600"/>
              </a:spcBef>
              <a:buFont typeface="Arial" panose="020B0604020202020204" pitchFamily="34" charset="0"/>
              <a:buChar char="•"/>
            </a:pPr>
            <a:r>
              <a:rPr lang="en-US" altLang="en-GB" dirty="0"/>
              <a:t>Uses GoogleSQL (ANSI compliant)</a:t>
            </a:r>
            <a:endParaRPr lang="en-US" altLang="en-GB" dirty="0"/>
          </a:p>
          <a:p>
            <a:pPr marL="742950" lvl="1" indent="-285750">
              <a:spcBef>
                <a:spcPts val="600"/>
              </a:spcBef>
              <a:buFont typeface="Arial" panose="020B0604020202020204" pitchFamily="34" charset="0"/>
              <a:buChar char="•"/>
            </a:pPr>
            <a:endParaRPr lang="en-US" altLang="en-GB" dirty="0"/>
          </a:p>
          <a:p>
            <a:pPr lvl="0" indent="0">
              <a:spcBef>
                <a:spcPts val="600"/>
              </a:spcBef>
              <a:buFont typeface="Arial" panose="020B0604020202020204" pitchFamily="34" charset="0"/>
              <a:buNone/>
            </a:pPr>
            <a:r>
              <a:rPr lang="en-US" altLang="en-GB" dirty="0"/>
              <a:t>Real-Time Use Case</a:t>
            </a:r>
            <a:endParaRPr lang="en-US" altLang="en-GB" dirty="0"/>
          </a:p>
          <a:p>
            <a:pPr marL="742950" lvl="1" indent="-285750">
              <a:spcBef>
                <a:spcPts val="600"/>
              </a:spcBef>
              <a:buFont typeface="Arial" panose="020B0604020202020204" pitchFamily="34" charset="0"/>
              <a:buChar char="•"/>
            </a:pPr>
            <a:r>
              <a:rPr lang="en-US" altLang="en-GB" dirty="0"/>
              <a:t>E-commerce company analyzing 2 TB of daily sales data.</a:t>
            </a:r>
            <a:endParaRPr lang="en-US" altLang="en-GB" dirty="0"/>
          </a:p>
        </p:txBody>
      </p:sp>
      <p:sp>
        <p:nvSpPr>
          <p:cNvPr id="5" name="Title 4"/>
          <p:cNvSpPr/>
          <p:nvPr>
            <p:ph type="title"/>
          </p:nvPr>
        </p:nvSpPr>
        <p:spPr>
          <a:xfrm>
            <a:off x="512900" y="322232"/>
            <a:ext cx="5715635" cy="368935"/>
          </a:xfrm>
        </p:spPr>
        <p:txBody>
          <a:bodyPr/>
          <a:p>
            <a:r>
              <a:rPr lang="en-US" altLang="en-GB"/>
              <a:t>What is BigQuery</a:t>
            </a:r>
            <a:endParaRPr lang="en-US" altLang="en-GB"/>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33400" y="819150"/>
            <a:ext cx="8464550" cy="1692275"/>
          </a:xfrm>
        </p:spPr>
        <p:txBody>
          <a:bodyPr wrap="square"/>
          <a:lstStyle/>
          <a:p>
            <a:pPr marL="285750" indent="-285750">
              <a:spcBef>
                <a:spcPts val="600"/>
              </a:spcBef>
              <a:buFont typeface="Arial" panose="020B0604020202020204" pitchFamily="34" charset="0"/>
              <a:buChar char="•"/>
            </a:pPr>
            <a:r>
              <a:rPr lang="en-US" altLang="en-GB" dirty="0"/>
              <a:t>Project: Top-level container</a:t>
            </a:r>
            <a:endParaRPr lang="en-US" altLang="en-GB" dirty="0"/>
          </a:p>
          <a:p>
            <a:pPr marL="285750" indent="-285750">
              <a:spcBef>
                <a:spcPts val="600"/>
              </a:spcBef>
              <a:buFont typeface="Arial" panose="020B0604020202020204" pitchFamily="34" charset="0"/>
              <a:buChar char="•"/>
            </a:pPr>
            <a:r>
              <a:rPr lang="en-US" altLang="en-GB" dirty="0"/>
              <a:t>Dataset: Logical grouping of tables</a:t>
            </a:r>
            <a:endParaRPr lang="en-US" altLang="en-GB" dirty="0"/>
          </a:p>
          <a:p>
            <a:pPr marL="285750" indent="-285750">
              <a:spcBef>
                <a:spcPts val="600"/>
              </a:spcBef>
              <a:buFont typeface="Arial" panose="020B0604020202020204" pitchFamily="34" charset="0"/>
              <a:buChar char="•"/>
            </a:pPr>
            <a:r>
              <a:rPr lang="en-US" altLang="en-GB" dirty="0"/>
              <a:t>Table: Stores data</a:t>
            </a:r>
            <a:endParaRPr lang="en-US" altLang="en-GB" dirty="0"/>
          </a:p>
          <a:p>
            <a:pPr marL="285750" indent="-285750">
              <a:spcBef>
                <a:spcPts val="600"/>
              </a:spcBef>
              <a:buFont typeface="Arial" panose="020B0604020202020204" pitchFamily="34" charset="0"/>
              <a:buChar char="•"/>
            </a:pPr>
            <a:r>
              <a:rPr lang="en-US" altLang="en-GB" dirty="0"/>
              <a:t>Columnar storage</a:t>
            </a:r>
            <a:endParaRPr lang="en-US" altLang="en-GB" dirty="0"/>
          </a:p>
          <a:p>
            <a:pPr marL="285750" indent="-285750">
              <a:spcBef>
                <a:spcPts val="600"/>
              </a:spcBef>
              <a:buFont typeface="Arial" panose="020B0604020202020204" pitchFamily="34" charset="0"/>
              <a:buChar char="•"/>
            </a:pPr>
            <a:r>
              <a:rPr lang="en-US" altLang="en-GB" dirty="0"/>
              <a:t>Separation of compute &amp; storage</a:t>
            </a:r>
            <a:endParaRPr lang="en-US" altLang="en-GB" dirty="0"/>
          </a:p>
        </p:txBody>
      </p:sp>
      <p:sp>
        <p:nvSpPr>
          <p:cNvPr id="5" name="Title 4"/>
          <p:cNvSpPr/>
          <p:nvPr>
            <p:ph type="title"/>
          </p:nvPr>
        </p:nvSpPr>
        <p:spPr>
          <a:xfrm>
            <a:off x="512900" y="322232"/>
            <a:ext cx="5715635" cy="368935"/>
          </a:xfrm>
        </p:spPr>
        <p:txBody>
          <a:bodyPr/>
          <a:p>
            <a:r>
              <a:rPr lang="en-US" altLang="en-GB"/>
              <a:t>Data Organization in BigQuery</a:t>
            </a:r>
            <a:endParaRPr lang="en-US" altLang="en-GB"/>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33400" y="819150"/>
            <a:ext cx="8464550" cy="3108325"/>
          </a:xfrm>
        </p:spPr>
        <p:txBody>
          <a:bodyPr wrap="square"/>
          <a:lstStyle/>
          <a:p>
            <a:pPr marL="285750" indent="-285750">
              <a:spcBef>
                <a:spcPts val="600"/>
              </a:spcBef>
              <a:buFont typeface="Arial" panose="020B0604020202020204" pitchFamily="34" charset="0"/>
              <a:buChar char="•"/>
            </a:pPr>
            <a:r>
              <a:rPr lang="en-US" altLang="en-GB" b="1" dirty="0"/>
              <a:t>Serverless</a:t>
            </a:r>
            <a:endParaRPr lang="en-US" altLang="en-GB" b="1" dirty="0"/>
          </a:p>
          <a:p>
            <a:pPr marL="285750" indent="-285750">
              <a:spcBef>
                <a:spcPts val="600"/>
              </a:spcBef>
              <a:buFont typeface="Arial" panose="020B0604020202020204" pitchFamily="34" charset="0"/>
              <a:buChar char="•"/>
            </a:pPr>
            <a:r>
              <a:rPr lang="en-US" altLang="en-GB" b="1" dirty="0"/>
              <a:t>No infrastructure management</a:t>
            </a:r>
            <a:endParaRPr lang="en-US" altLang="en-GB" b="1" dirty="0"/>
          </a:p>
          <a:p>
            <a:pPr marL="285750" indent="-285750">
              <a:spcBef>
                <a:spcPts val="600"/>
              </a:spcBef>
              <a:buFont typeface="Arial" panose="020B0604020202020204" pitchFamily="34" charset="0"/>
              <a:buChar char="•"/>
            </a:pPr>
            <a:r>
              <a:rPr lang="en-US" altLang="en-GB" b="1" dirty="0"/>
              <a:t>Petabyte scale</a:t>
            </a:r>
            <a:endParaRPr lang="en-US" altLang="en-GB" b="1" dirty="0"/>
          </a:p>
          <a:p>
            <a:pPr marL="285750" indent="-285750">
              <a:spcBef>
                <a:spcPts val="600"/>
              </a:spcBef>
              <a:buFont typeface="Arial" panose="020B0604020202020204" pitchFamily="34" charset="0"/>
              <a:buChar char="•"/>
            </a:pPr>
            <a:r>
              <a:rPr lang="en-US" altLang="en-GB" b="1" dirty="0"/>
              <a:t>Separation of compute/storage</a:t>
            </a:r>
            <a:endParaRPr lang="en-US" altLang="en-GB" b="1" dirty="0"/>
          </a:p>
          <a:p>
            <a:pPr marL="285750" indent="-285750">
              <a:spcBef>
                <a:spcPts val="600"/>
              </a:spcBef>
              <a:buFont typeface="Arial" panose="020B0604020202020204" pitchFamily="34" charset="0"/>
              <a:buChar char="•"/>
            </a:pPr>
            <a:r>
              <a:rPr lang="en-US" altLang="en-GB" b="1" dirty="0"/>
              <a:t>Pay-as-you-go</a:t>
            </a:r>
            <a:endParaRPr lang="en-US" altLang="en-GB" b="1" dirty="0"/>
          </a:p>
          <a:p>
            <a:pPr marL="285750" indent="-285750">
              <a:spcBef>
                <a:spcPts val="600"/>
              </a:spcBef>
              <a:buFont typeface="Arial" panose="020B0604020202020204" pitchFamily="34" charset="0"/>
              <a:buChar char="•"/>
            </a:pPr>
            <a:r>
              <a:rPr lang="en-US" altLang="en-GB" b="1" dirty="0"/>
              <a:t>BigQuery ML</a:t>
            </a:r>
            <a:endParaRPr lang="en-US" altLang="en-GB" b="1" dirty="0"/>
          </a:p>
          <a:p>
            <a:pPr marL="285750" indent="-285750">
              <a:spcBef>
                <a:spcPts val="600"/>
              </a:spcBef>
              <a:buFont typeface="Arial" panose="020B0604020202020204" pitchFamily="34" charset="0"/>
              <a:buChar char="•"/>
            </a:pPr>
            <a:r>
              <a:rPr lang="en-US" altLang="en-GB" b="1" dirty="0"/>
              <a:t>Easy GCP integration</a:t>
            </a:r>
            <a:endParaRPr lang="en-US" altLang="en-GB" b="1" dirty="0"/>
          </a:p>
          <a:p>
            <a:pPr marL="285750" indent="-285750">
              <a:spcBef>
                <a:spcPts val="600"/>
              </a:spcBef>
              <a:buFont typeface="Arial" panose="020B0604020202020204" pitchFamily="34" charset="0"/>
              <a:buChar char="•"/>
            </a:pPr>
            <a:r>
              <a:rPr lang="en-US" altLang="en-GB" b="1" dirty="0"/>
              <a:t>ANSI SQL support</a:t>
            </a:r>
            <a:endParaRPr lang="en-US" altLang="en-GB" b="1" dirty="0"/>
          </a:p>
          <a:p>
            <a:pPr marL="285750" indent="-285750">
              <a:spcBef>
                <a:spcPts val="600"/>
              </a:spcBef>
              <a:buFont typeface="Arial" panose="020B0604020202020204" pitchFamily="34" charset="0"/>
              <a:buChar char="•"/>
            </a:pPr>
            <a:endParaRPr lang="en-US" altLang="en-GB" b="1" dirty="0"/>
          </a:p>
        </p:txBody>
      </p:sp>
      <p:sp>
        <p:nvSpPr>
          <p:cNvPr id="5" name="Title 4"/>
          <p:cNvSpPr/>
          <p:nvPr>
            <p:ph type="title"/>
          </p:nvPr>
        </p:nvSpPr>
        <p:spPr>
          <a:xfrm>
            <a:off x="512900" y="322232"/>
            <a:ext cx="5715635" cy="368935"/>
          </a:xfrm>
        </p:spPr>
        <p:txBody>
          <a:bodyPr/>
          <a:p>
            <a:r>
              <a:rPr lang="en-US" altLang="en-GB" dirty="0">
                <a:sym typeface="+mn-ea"/>
              </a:rPr>
              <a:t>Advantages of BigQuery</a:t>
            </a:r>
            <a:endParaRPr lang="en-US" altLang="en-GB"/>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33400" y="819150"/>
            <a:ext cx="8464550" cy="2046605"/>
          </a:xfrm>
        </p:spPr>
        <p:txBody>
          <a:bodyPr wrap="square"/>
          <a:lstStyle/>
          <a:p>
            <a:pPr marL="285750" indent="-285750">
              <a:spcBef>
                <a:spcPts val="600"/>
              </a:spcBef>
              <a:buFont typeface="Arial" panose="020B0604020202020204" pitchFamily="34" charset="0"/>
              <a:buChar char="•"/>
            </a:pPr>
            <a:r>
              <a:rPr lang="en-US" altLang="en-GB" b="1" dirty="0"/>
              <a:t>Expensive if poorly optimized</a:t>
            </a:r>
            <a:endParaRPr lang="en-US" altLang="en-GB" b="1" dirty="0"/>
          </a:p>
          <a:p>
            <a:pPr marL="285750" indent="-285750">
              <a:spcBef>
                <a:spcPts val="600"/>
              </a:spcBef>
              <a:buFont typeface="Arial" panose="020B0604020202020204" pitchFamily="34" charset="0"/>
              <a:buChar char="•"/>
            </a:pPr>
            <a:r>
              <a:rPr lang="en-US" altLang="en-GB" b="1" dirty="0"/>
              <a:t>Not for OLTP</a:t>
            </a:r>
            <a:endParaRPr lang="en-US" altLang="en-GB" b="1" dirty="0"/>
          </a:p>
          <a:p>
            <a:pPr marL="285750" indent="-285750">
              <a:spcBef>
                <a:spcPts val="600"/>
              </a:spcBef>
              <a:buFont typeface="Arial" panose="020B0604020202020204" pitchFamily="34" charset="0"/>
              <a:buChar char="•"/>
            </a:pPr>
            <a:r>
              <a:rPr lang="en-US" altLang="en-GB" b="1" dirty="0"/>
              <a:t>Streaming costs extra</a:t>
            </a:r>
            <a:endParaRPr lang="en-US" altLang="en-GB" b="1" dirty="0"/>
          </a:p>
          <a:p>
            <a:pPr marL="285750" indent="-285750">
              <a:spcBef>
                <a:spcPts val="600"/>
              </a:spcBef>
              <a:buFont typeface="Arial" panose="020B0604020202020204" pitchFamily="34" charset="0"/>
              <a:buChar char="•"/>
            </a:pPr>
            <a:r>
              <a:rPr lang="en-US" altLang="en-GB" b="1" dirty="0"/>
              <a:t>Limited infra control</a:t>
            </a:r>
            <a:endParaRPr lang="en-US" altLang="en-GB" b="1" dirty="0"/>
          </a:p>
          <a:p>
            <a:pPr marL="285750" indent="-285750">
              <a:spcBef>
                <a:spcPts val="600"/>
              </a:spcBef>
              <a:buFont typeface="Arial" panose="020B0604020202020204" pitchFamily="34" charset="0"/>
              <a:buChar char="•"/>
            </a:pPr>
            <a:r>
              <a:rPr lang="en-US" altLang="en-GB" b="1" dirty="0"/>
              <a:t>Latency for small frequent queries</a:t>
            </a:r>
            <a:endParaRPr lang="en-US" altLang="en-GB" b="1" dirty="0"/>
          </a:p>
          <a:p>
            <a:pPr marL="285750" indent="-285750">
              <a:spcBef>
                <a:spcPts val="600"/>
              </a:spcBef>
              <a:buFont typeface="Arial" panose="020B0604020202020204" pitchFamily="34" charset="0"/>
              <a:buChar char="•"/>
            </a:pPr>
            <a:r>
              <a:rPr lang="en-US" altLang="en-GB" b="1" dirty="0"/>
              <a:t>Partition knowledge required</a:t>
            </a:r>
            <a:endParaRPr lang="en-US" altLang="en-GB" b="1" dirty="0"/>
          </a:p>
        </p:txBody>
      </p:sp>
      <p:sp>
        <p:nvSpPr>
          <p:cNvPr id="5" name="Title 4"/>
          <p:cNvSpPr/>
          <p:nvPr>
            <p:ph type="title"/>
          </p:nvPr>
        </p:nvSpPr>
        <p:spPr>
          <a:xfrm>
            <a:off x="512900" y="322232"/>
            <a:ext cx="5715635" cy="368935"/>
          </a:xfrm>
        </p:spPr>
        <p:txBody>
          <a:bodyPr/>
          <a:p>
            <a:r>
              <a:rPr lang="en-US" altLang="en-GB" dirty="0">
                <a:sym typeface="+mn-ea"/>
              </a:rPr>
              <a:t>Limitations of BigQuery</a:t>
            </a:r>
            <a:endParaRPr lang="en-US" altLang="en-GB"/>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33400" y="819150"/>
            <a:ext cx="8464550" cy="3816350"/>
          </a:xfrm>
        </p:spPr>
        <p:txBody>
          <a:bodyPr wrap="square"/>
          <a:lstStyle/>
          <a:p>
            <a:pPr indent="0">
              <a:spcBef>
                <a:spcPts val="600"/>
              </a:spcBef>
              <a:buFont typeface="Arial" panose="020B0604020202020204" pitchFamily="34" charset="0"/>
              <a:buNone/>
            </a:pPr>
            <a:r>
              <a:rPr lang="en-US" altLang="en-GB" b="1" dirty="0"/>
              <a:t>Native (Managed) Tables</a:t>
            </a:r>
            <a:endParaRPr lang="en-US" altLang="en-GB" b="1" dirty="0"/>
          </a:p>
          <a:p>
            <a:pPr indent="0">
              <a:spcBef>
                <a:spcPts val="600"/>
              </a:spcBef>
              <a:buFont typeface="Arial" panose="020B0604020202020204" pitchFamily="34" charset="0"/>
              <a:buNone/>
            </a:pPr>
            <a:r>
              <a:rPr lang="en-US" altLang="en-GB" b="1" dirty="0"/>
              <a:t>Tables where data is stored inside BigQuery’s managed storage.</a:t>
            </a:r>
            <a:endParaRPr lang="en-US" altLang="en-GB" b="1" dirty="0"/>
          </a:p>
          <a:p>
            <a:pPr indent="0">
              <a:spcBef>
                <a:spcPts val="600"/>
              </a:spcBef>
              <a:buFont typeface="Arial" panose="020B0604020202020204" pitchFamily="34" charset="0"/>
              <a:buNone/>
            </a:pPr>
            <a:endParaRPr lang="en-US" altLang="en-GB" b="1" dirty="0"/>
          </a:p>
          <a:p>
            <a:pPr indent="0">
              <a:spcBef>
                <a:spcPts val="600"/>
              </a:spcBef>
              <a:buFont typeface="Arial" panose="020B0604020202020204" pitchFamily="34" charset="0"/>
              <a:buNone/>
            </a:pPr>
            <a:r>
              <a:rPr lang="en-US" altLang="en-GB" b="1" dirty="0"/>
              <a:t> Key Features</a:t>
            </a:r>
            <a:endParaRPr lang="en-US" altLang="en-GB" b="1" dirty="0"/>
          </a:p>
          <a:p>
            <a:pPr marL="742950" lvl="1" indent="-285750">
              <a:spcBef>
                <a:spcPts val="600"/>
              </a:spcBef>
              <a:buFont typeface="Arial" panose="020B0604020202020204" pitchFamily="34" charset="0"/>
              <a:buChar char="•"/>
            </a:pPr>
            <a:r>
              <a:rPr lang="en-US" altLang="en-GB" b="1" dirty="0"/>
              <a:t>Stored in BigQuery columnar format (Capacitor)</a:t>
            </a:r>
            <a:endParaRPr lang="en-US" altLang="en-GB" b="1" dirty="0"/>
          </a:p>
          <a:p>
            <a:pPr marL="742950" lvl="1" indent="-285750">
              <a:spcBef>
                <a:spcPts val="600"/>
              </a:spcBef>
              <a:buFont typeface="Arial" panose="020B0604020202020204" pitchFamily="34" charset="0"/>
              <a:buChar char="•"/>
            </a:pPr>
            <a:r>
              <a:rPr lang="en-US" altLang="en-GB" b="1" dirty="0"/>
              <a:t>High performance</a:t>
            </a:r>
            <a:endParaRPr lang="en-US" altLang="en-GB" b="1" dirty="0"/>
          </a:p>
          <a:p>
            <a:pPr marL="742950" lvl="1" indent="-285750">
              <a:spcBef>
                <a:spcPts val="600"/>
              </a:spcBef>
              <a:buFont typeface="Arial" panose="020B0604020202020204" pitchFamily="34" charset="0"/>
              <a:buChar char="•"/>
            </a:pPr>
            <a:r>
              <a:rPr lang="en-US" altLang="en-GB" b="1" dirty="0"/>
              <a:t>Fully managed</a:t>
            </a:r>
            <a:endParaRPr lang="en-US" altLang="en-GB" b="1" dirty="0"/>
          </a:p>
          <a:p>
            <a:pPr marL="742950" lvl="1" indent="-285750">
              <a:spcBef>
                <a:spcPts val="600"/>
              </a:spcBef>
              <a:buFont typeface="Arial" panose="020B0604020202020204" pitchFamily="34" charset="0"/>
              <a:buChar char="•"/>
            </a:pPr>
            <a:r>
              <a:rPr lang="en-US" altLang="en-GB" b="1" dirty="0"/>
              <a:t>Supports partitioning &amp; clustering</a:t>
            </a:r>
            <a:endParaRPr lang="en-US" altLang="en-GB" b="1" dirty="0"/>
          </a:p>
          <a:p>
            <a:pPr marL="742950" lvl="1" indent="-285750">
              <a:spcBef>
                <a:spcPts val="600"/>
              </a:spcBef>
              <a:buFont typeface="Arial" panose="020B0604020202020204" pitchFamily="34" charset="0"/>
              <a:buChar char="•"/>
            </a:pPr>
            <a:r>
              <a:rPr lang="en-US" altLang="en-GB" b="1" dirty="0"/>
              <a:t>Recommended for production analytics</a:t>
            </a:r>
            <a:endParaRPr lang="en-US" altLang="en-GB" b="1" dirty="0"/>
          </a:p>
          <a:p>
            <a:pPr lvl="0" indent="0">
              <a:spcBef>
                <a:spcPts val="600"/>
              </a:spcBef>
              <a:buNone/>
            </a:pPr>
            <a:r>
              <a:rPr lang="en-US" altLang="en-GB" b="1" dirty="0"/>
              <a:t>Real-Time Use Case</a:t>
            </a:r>
            <a:endParaRPr lang="en-US" altLang="en-GB" b="1" dirty="0"/>
          </a:p>
          <a:p>
            <a:pPr lvl="0" indent="0">
              <a:spcBef>
                <a:spcPts val="600"/>
              </a:spcBef>
              <a:buNone/>
            </a:pPr>
            <a:r>
              <a:rPr lang="en-US" altLang="en-GB" b="1" dirty="0"/>
              <a:t>E-commerce company storing daily transaction data for analytics.</a:t>
            </a:r>
            <a:endParaRPr lang="en-US" altLang="en-GB" b="1" dirty="0"/>
          </a:p>
        </p:txBody>
      </p:sp>
      <p:sp>
        <p:nvSpPr>
          <p:cNvPr id="5" name="Title 4"/>
          <p:cNvSpPr/>
          <p:nvPr>
            <p:ph type="title"/>
          </p:nvPr>
        </p:nvSpPr>
        <p:spPr>
          <a:xfrm>
            <a:off x="512900" y="322232"/>
            <a:ext cx="5715635" cy="368935"/>
          </a:xfrm>
        </p:spPr>
        <p:txBody>
          <a:bodyPr/>
          <a:p>
            <a:r>
              <a:rPr lang="en-US" altLang="en-GB"/>
              <a:t>Types of table </a:t>
            </a:r>
            <a:endParaRPr lang="en-US" altLang="en-GB"/>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33400" y="819150"/>
            <a:ext cx="8464550" cy="2400300"/>
          </a:xfrm>
        </p:spPr>
        <p:txBody>
          <a:bodyPr wrap="square"/>
          <a:lstStyle/>
          <a:p>
            <a:pPr marL="285750" lvl="0" indent="-285750">
              <a:spcBef>
                <a:spcPts val="600"/>
              </a:spcBef>
              <a:buFont typeface="Arial" panose="020B0604020202020204" pitchFamily="34" charset="0"/>
              <a:buChar char="•"/>
            </a:pPr>
            <a:r>
              <a:rPr lang="en-US" altLang="en-GB" b="1" dirty="0"/>
              <a:t>Advantages</a:t>
            </a:r>
            <a:endParaRPr lang="en-US" altLang="en-GB" b="1" dirty="0"/>
          </a:p>
          <a:p>
            <a:pPr marL="285750" lvl="0" indent="-285750">
              <a:spcBef>
                <a:spcPts val="600"/>
              </a:spcBef>
              <a:buFont typeface="Arial" panose="020B0604020202020204" pitchFamily="34" charset="0"/>
              <a:buChar char="•"/>
            </a:pPr>
            <a:r>
              <a:rPr lang="en-US" altLang="en-GB" b="1" dirty="0"/>
              <a:t>Fast query performance</a:t>
            </a:r>
            <a:endParaRPr lang="en-US" altLang="en-GB" b="1" dirty="0"/>
          </a:p>
          <a:p>
            <a:pPr marL="285750" lvl="0" indent="-285750">
              <a:spcBef>
                <a:spcPts val="600"/>
              </a:spcBef>
              <a:buFont typeface="Arial" panose="020B0604020202020204" pitchFamily="34" charset="0"/>
              <a:buChar char="•"/>
            </a:pPr>
            <a:r>
              <a:rPr lang="en-US" altLang="en-GB" b="1" dirty="0"/>
              <a:t>Fully scalable</a:t>
            </a:r>
            <a:endParaRPr lang="en-US" altLang="en-GB" b="1" dirty="0"/>
          </a:p>
          <a:p>
            <a:pPr marL="285750" lvl="0" indent="-285750">
              <a:spcBef>
                <a:spcPts val="600"/>
              </a:spcBef>
              <a:buFont typeface="Arial" panose="020B0604020202020204" pitchFamily="34" charset="0"/>
              <a:buChar char="•"/>
            </a:pPr>
            <a:r>
              <a:rPr lang="en-US" altLang="en-GB" b="1" dirty="0"/>
              <a:t>Supports all BigQuery features</a:t>
            </a:r>
            <a:endParaRPr lang="en-US" altLang="en-GB" b="1" dirty="0"/>
          </a:p>
          <a:p>
            <a:pPr marL="285750" lvl="0" indent="-285750">
              <a:spcBef>
                <a:spcPts val="600"/>
              </a:spcBef>
              <a:buFont typeface="Arial" panose="020B0604020202020204" pitchFamily="34" charset="0"/>
              <a:buChar char="•"/>
            </a:pPr>
            <a:r>
              <a:rPr lang="zh-CN" altLang="en-US" b="1" dirty="0"/>
              <a:t>👎</a:t>
            </a:r>
            <a:r>
              <a:rPr lang="en-US" altLang="en-GB" b="1" dirty="0"/>
              <a:t> Limitations</a:t>
            </a:r>
            <a:endParaRPr lang="en-US" altLang="en-GB" b="1" dirty="0"/>
          </a:p>
          <a:p>
            <a:pPr marL="285750" lvl="0" indent="-285750">
              <a:spcBef>
                <a:spcPts val="600"/>
              </a:spcBef>
              <a:buFont typeface="Arial" panose="020B0604020202020204" pitchFamily="34" charset="0"/>
              <a:buChar char="•"/>
            </a:pPr>
            <a:r>
              <a:rPr lang="en-US" altLang="en-GB" b="1" dirty="0"/>
              <a:t>Storage cost applies</a:t>
            </a:r>
            <a:endParaRPr lang="en-US" altLang="en-GB" b="1" dirty="0"/>
          </a:p>
          <a:p>
            <a:pPr marL="285750" lvl="0" indent="-285750">
              <a:spcBef>
                <a:spcPts val="600"/>
              </a:spcBef>
              <a:buFont typeface="Arial" panose="020B0604020202020204" pitchFamily="34" charset="0"/>
              <a:buChar char="•"/>
            </a:pPr>
            <a:r>
              <a:rPr lang="en-US" altLang="en-GB" b="1" dirty="0"/>
              <a:t>Data duplication if already in external storage</a:t>
            </a:r>
            <a:endParaRPr lang="en-US" altLang="en-GB" b="1" dirty="0"/>
          </a:p>
        </p:txBody>
      </p:sp>
      <p:sp>
        <p:nvSpPr>
          <p:cNvPr id="5" name="Title 4"/>
          <p:cNvSpPr/>
          <p:nvPr>
            <p:ph type="title"/>
          </p:nvPr>
        </p:nvSpPr>
        <p:spPr>
          <a:xfrm>
            <a:off x="512900" y="322232"/>
            <a:ext cx="5715635" cy="368935"/>
          </a:xfrm>
        </p:spPr>
        <p:txBody>
          <a:bodyPr/>
          <a:p>
            <a:r>
              <a:rPr lang="en-US" altLang="en-GB">
                <a:sym typeface="+mn-ea"/>
              </a:rPr>
              <a:t>Types of table</a:t>
            </a:r>
            <a:endParaRPr lang="en-US" altLang="en-GB"/>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33400" y="819150"/>
            <a:ext cx="8464550" cy="4170045"/>
          </a:xfrm>
        </p:spPr>
        <p:txBody>
          <a:bodyPr wrap="square"/>
          <a:lstStyle/>
          <a:p>
            <a:pPr lvl="1" indent="0">
              <a:spcBef>
                <a:spcPts val="600"/>
              </a:spcBef>
              <a:buNone/>
            </a:pPr>
            <a:r>
              <a:rPr lang="en-US" altLang="en-GB" b="1" dirty="0"/>
              <a:t>External Tables (Federated Tables)</a:t>
            </a:r>
            <a:endParaRPr lang="en-US" altLang="en-GB" b="1" dirty="0"/>
          </a:p>
          <a:p>
            <a:pPr marL="285750" lvl="0" indent="-285750">
              <a:spcBef>
                <a:spcPts val="600"/>
              </a:spcBef>
              <a:buFont typeface="Arial" panose="020B0604020202020204" pitchFamily="34" charset="0"/>
              <a:buChar char="•"/>
            </a:pPr>
            <a:r>
              <a:rPr lang="en-US" altLang="en-GB" b="1" dirty="0"/>
              <a:t>Tables that </a:t>
            </a:r>
            <a:r>
              <a:rPr lang="en-US" altLang="en-GB" b="1" dirty="0"/>
              <a:t>reference data stored outside BigQuery (no data is stored in BigQuery).</a:t>
            </a:r>
            <a:endParaRPr lang="en-US" altLang="en-GB" b="1" dirty="0"/>
          </a:p>
          <a:p>
            <a:pPr marL="285750" lvl="0" indent="-285750">
              <a:spcBef>
                <a:spcPts val="600"/>
              </a:spcBef>
              <a:buFont typeface="Arial" panose="020B0604020202020204" pitchFamily="34" charset="0"/>
              <a:buChar char="•"/>
            </a:pPr>
            <a:endParaRPr lang="en-US" altLang="en-GB" b="1" dirty="0"/>
          </a:p>
          <a:p>
            <a:pPr lvl="0" indent="0">
              <a:spcBef>
                <a:spcPts val="600"/>
              </a:spcBef>
              <a:buFont typeface="Arial" panose="020B0604020202020204" pitchFamily="34" charset="0"/>
              <a:buNone/>
            </a:pPr>
            <a:r>
              <a:rPr lang="en-US" altLang="en-GB" b="1" dirty="0"/>
              <a:t>Supported Sources</a:t>
            </a:r>
            <a:endParaRPr lang="en-US" altLang="en-GB" b="1" dirty="0"/>
          </a:p>
          <a:p>
            <a:pPr marL="742950" lvl="1" indent="-285750">
              <a:spcBef>
                <a:spcPts val="600"/>
              </a:spcBef>
              <a:buFont typeface="Arial" panose="020B0604020202020204" pitchFamily="34" charset="0"/>
              <a:buChar char="•"/>
            </a:pPr>
            <a:r>
              <a:rPr lang="en-US" altLang="en-GB" dirty="0"/>
              <a:t>Google Cloud Storage (CSV, JSON, Parquet, ORC)</a:t>
            </a:r>
            <a:endParaRPr lang="en-US" altLang="en-GB" dirty="0"/>
          </a:p>
          <a:p>
            <a:pPr marL="742950" lvl="1" indent="-285750">
              <a:spcBef>
                <a:spcPts val="600"/>
              </a:spcBef>
              <a:buFont typeface="Arial" panose="020B0604020202020204" pitchFamily="34" charset="0"/>
              <a:buChar char="•"/>
            </a:pPr>
            <a:r>
              <a:rPr lang="en-US" altLang="en-GB" dirty="0"/>
              <a:t>Google Sheets</a:t>
            </a:r>
            <a:endParaRPr lang="en-US" altLang="en-GB" dirty="0"/>
          </a:p>
          <a:p>
            <a:pPr marL="742950" lvl="1" indent="-285750">
              <a:spcBef>
                <a:spcPts val="600"/>
              </a:spcBef>
              <a:buFont typeface="Arial" panose="020B0604020202020204" pitchFamily="34" charset="0"/>
              <a:buChar char="•"/>
            </a:pPr>
            <a:r>
              <a:rPr lang="en-US" altLang="en-GB" dirty="0"/>
              <a:t>Bigtable</a:t>
            </a:r>
            <a:endParaRPr lang="en-US" altLang="en-GB" dirty="0"/>
          </a:p>
          <a:p>
            <a:pPr marL="742950" lvl="1" indent="-285750">
              <a:spcBef>
                <a:spcPts val="600"/>
              </a:spcBef>
              <a:buFont typeface="Arial" panose="020B0604020202020204" pitchFamily="34" charset="0"/>
              <a:buChar char="•"/>
            </a:pPr>
            <a:r>
              <a:rPr lang="en-US" altLang="en-GB" dirty="0"/>
              <a:t>Cloud SQL</a:t>
            </a:r>
            <a:endParaRPr lang="en-US" altLang="en-GB" dirty="0"/>
          </a:p>
          <a:p>
            <a:pPr lvl="1" indent="0">
              <a:spcBef>
                <a:spcPts val="600"/>
              </a:spcBef>
              <a:buNone/>
            </a:pPr>
            <a:endParaRPr lang="en-US" altLang="en-GB" dirty="0"/>
          </a:p>
          <a:p>
            <a:pPr lvl="1" indent="0">
              <a:spcBef>
                <a:spcPts val="600"/>
              </a:spcBef>
              <a:buNone/>
            </a:pPr>
            <a:r>
              <a:rPr lang="en-US" altLang="en-GB" dirty="0"/>
              <a:t>CREATE EXTERNAL TABLE dataset.ext_sales</a:t>
            </a:r>
            <a:endParaRPr lang="en-US" altLang="en-GB" dirty="0"/>
          </a:p>
          <a:p>
            <a:pPr lvl="1" indent="0">
              <a:spcBef>
                <a:spcPts val="600"/>
              </a:spcBef>
              <a:buNone/>
            </a:pPr>
            <a:r>
              <a:rPr lang="en-US" altLang="en-GB" dirty="0"/>
              <a:t>OPTIONS (  format = 'CSV',</a:t>
            </a:r>
            <a:endParaRPr lang="en-US" altLang="en-GB" dirty="0"/>
          </a:p>
          <a:p>
            <a:pPr lvl="1" indent="0">
              <a:spcBef>
                <a:spcPts val="600"/>
              </a:spcBef>
              <a:buNone/>
            </a:pPr>
            <a:r>
              <a:rPr lang="en-US" altLang="en-GB" dirty="0"/>
              <a:t>  uris = ['gs://bucket/sales.csv']);</a:t>
            </a:r>
            <a:endParaRPr lang="en-US" altLang="en-GB" dirty="0"/>
          </a:p>
        </p:txBody>
      </p:sp>
      <p:sp>
        <p:nvSpPr>
          <p:cNvPr id="5" name="Title 4"/>
          <p:cNvSpPr/>
          <p:nvPr>
            <p:ph type="title"/>
          </p:nvPr>
        </p:nvSpPr>
        <p:spPr>
          <a:xfrm>
            <a:off x="512900" y="322232"/>
            <a:ext cx="5715635" cy="368935"/>
          </a:xfrm>
        </p:spPr>
        <p:txBody>
          <a:bodyPr/>
          <a:p>
            <a:r>
              <a:rPr lang="en-US" altLang="en-GB">
                <a:sym typeface="+mn-ea"/>
              </a:rPr>
              <a:t>Types of table</a:t>
            </a:r>
            <a:endParaRPr lang="en-US" altLang="en-GB"/>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33400" y="819150"/>
            <a:ext cx="8464550" cy="2754630"/>
          </a:xfrm>
        </p:spPr>
        <p:txBody>
          <a:bodyPr wrap="square"/>
          <a:lstStyle/>
          <a:p>
            <a:pPr lvl="0" indent="0">
              <a:spcBef>
                <a:spcPts val="600"/>
              </a:spcBef>
              <a:buNone/>
            </a:pPr>
            <a:r>
              <a:rPr lang="en-US" altLang="en-GB" b="1" dirty="0"/>
              <a:t>Advantages</a:t>
            </a:r>
            <a:endParaRPr lang="en-US" altLang="en-GB" b="1" dirty="0"/>
          </a:p>
          <a:p>
            <a:pPr marL="742950" lvl="1" indent="-285750">
              <a:spcBef>
                <a:spcPts val="600"/>
              </a:spcBef>
              <a:buFont typeface="Arial" panose="020B0604020202020204" pitchFamily="34" charset="0"/>
              <a:buChar char="•"/>
            </a:pPr>
            <a:r>
              <a:rPr lang="en-US" altLang="en-GB" dirty="0"/>
              <a:t>No storage cost in BigQuery</a:t>
            </a:r>
            <a:endParaRPr lang="en-US" altLang="en-GB" dirty="0"/>
          </a:p>
          <a:p>
            <a:pPr marL="742950" lvl="1" indent="-285750">
              <a:spcBef>
                <a:spcPts val="600"/>
              </a:spcBef>
              <a:buFont typeface="Arial" panose="020B0604020202020204" pitchFamily="34" charset="0"/>
              <a:buChar char="•"/>
            </a:pPr>
            <a:r>
              <a:rPr lang="en-US" altLang="en-GB" dirty="0"/>
              <a:t>Real-time access to external data</a:t>
            </a:r>
            <a:endParaRPr lang="en-US" altLang="en-GB" dirty="0"/>
          </a:p>
          <a:p>
            <a:pPr marL="742950" lvl="1" indent="-285750">
              <a:spcBef>
                <a:spcPts val="600"/>
              </a:spcBef>
              <a:buFont typeface="Arial" panose="020B0604020202020204" pitchFamily="34" charset="0"/>
              <a:buChar char="•"/>
            </a:pPr>
            <a:r>
              <a:rPr lang="en-US" altLang="en-GB" dirty="0"/>
              <a:t>No data duplication</a:t>
            </a:r>
            <a:endParaRPr lang="en-US" altLang="en-GB" dirty="0"/>
          </a:p>
          <a:p>
            <a:pPr lvl="0" indent="0">
              <a:spcBef>
                <a:spcPts val="600"/>
              </a:spcBef>
              <a:buNone/>
            </a:pPr>
            <a:r>
              <a:rPr lang="en-US" altLang="en-GB" b="1" dirty="0"/>
              <a:t>Limitations</a:t>
            </a:r>
            <a:endParaRPr lang="en-US" altLang="en-GB" b="1" dirty="0"/>
          </a:p>
          <a:p>
            <a:pPr marL="742950" lvl="1" indent="-285750">
              <a:spcBef>
                <a:spcPts val="600"/>
              </a:spcBef>
              <a:buFont typeface="Arial" panose="020B0604020202020204" pitchFamily="34" charset="0"/>
              <a:buChar char="•"/>
            </a:pPr>
            <a:r>
              <a:rPr lang="en-US" altLang="en-GB" dirty="0"/>
              <a:t>Slower than native tables</a:t>
            </a:r>
            <a:endParaRPr lang="en-US" altLang="en-GB" dirty="0"/>
          </a:p>
          <a:p>
            <a:pPr marL="742950" lvl="1" indent="-285750">
              <a:spcBef>
                <a:spcPts val="600"/>
              </a:spcBef>
              <a:buFont typeface="Arial" panose="020B0604020202020204" pitchFamily="34" charset="0"/>
              <a:buChar char="•"/>
            </a:pPr>
            <a:r>
              <a:rPr lang="en-US" altLang="en-GB" dirty="0"/>
              <a:t>Limited optimization features</a:t>
            </a:r>
            <a:endParaRPr lang="en-US" altLang="en-GB" dirty="0"/>
          </a:p>
          <a:p>
            <a:pPr marL="742950" lvl="1" indent="-285750">
              <a:spcBef>
                <a:spcPts val="600"/>
              </a:spcBef>
              <a:buFont typeface="Arial" panose="020B0604020202020204" pitchFamily="34" charset="0"/>
              <a:buChar char="•"/>
            </a:pPr>
            <a:r>
              <a:rPr lang="en-US" altLang="en-GB" dirty="0"/>
              <a:t>Higher query cost if scanned frequently</a:t>
            </a:r>
            <a:endParaRPr lang="en-US" altLang="en-GB" dirty="0"/>
          </a:p>
        </p:txBody>
      </p:sp>
      <p:sp>
        <p:nvSpPr>
          <p:cNvPr id="5" name="Title 4"/>
          <p:cNvSpPr/>
          <p:nvPr>
            <p:ph type="title"/>
          </p:nvPr>
        </p:nvSpPr>
        <p:spPr>
          <a:xfrm>
            <a:off x="512900" y="322232"/>
            <a:ext cx="5715635" cy="368935"/>
          </a:xfrm>
        </p:spPr>
        <p:txBody>
          <a:bodyPr/>
          <a:p>
            <a:r>
              <a:rPr lang="en-US" altLang="en-GB">
                <a:sym typeface="+mn-ea"/>
              </a:rPr>
              <a:t>Types of table</a:t>
            </a:r>
            <a:endParaRPr lang="en-US" altLang="en-GB"/>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33400" y="742950"/>
            <a:ext cx="8464550" cy="4170045"/>
          </a:xfrm>
        </p:spPr>
        <p:txBody>
          <a:bodyPr wrap="square"/>
          <a:lstStyle/>
          <a:p>
            <a:pPr lvl="0" indent="0">
              <a:spcBef>
                <a:spcPts val="600"/>
              </a:spcBef>
              <a:buNone/>
            </a:pPr>
            <a:r>
              <a:rPr lang="en-US" altLang="en-GB" b="1" dirty="0"/>
              <a:t>Temporary Tables</a:t>
            </a:r>
            <a:endParaRPr lang="en-US" altLang="en-GB" b="1" dirty="0"/>
          </a:p>
          <a:p>
            <a:pPr marL="742950" lvl="1" indent="-285750">
              <a:spcBef>
                <a:spcPts val="600"/>
              </a:spcBef>
              <a:buFont typeface="Arial" panose="020B0604020202020204" pitchFamily="34" charset="0"/>
              <a:buChar char="•"/>
            </a:pPr>
            <a:r>
              <a:rPr lang="en-US" altLang="en-GB" dirty="0"/>
              <a:t>Tables that exist temporarily during query execution or session.</a:t>
            </a:r>
            <a:endParaRPr lang="en-US" altLang="en-GB" dirty="0"/>
          </a:p>
          <a:p>
            <a:pPr marL="742950" lvl="1" indent="-285750">
              <a:spcBef>
                <a:spcPts val="600"/>
              </a:spcBef>
              <a:buFont typeface="Arial" panose="020B0604020202020204" pitchFamily="34" charset="0"/>
              <a:buChar char="•"/>
            </a:pPr>
            <a:endParaRPr lang="en-US" altLang="en-GB" dirty="0"/>
          </a:p>
          <a:p>
            <a:pPr lvl="1" indent="0">
              <a:spcBef>
                <a:spcPts val="600"/>
              </a:spcBef>
              <a:buNone/>
            </a:pPr>
            <a:r>
              <a:rPr lang="en-US" altLang="en-GB" dirty="0"/>
              <a:t>CREATE TEMP TABLE temp_sales AS</a:t>
            </a:r>
            <a:endParaRPr lang="en-US" altLang="en-GB" dirty="0"/>
          </a:p>
          <a:p>
            <a:pPr lvl="1" indent="0">
              <a:spcBef>
                <a:spcPts val="600"/>
              </a:spcBef>
              <a:buNone/>
            </a:pPr>
            <a:r>
              <a:rPr lang="en-US" altLang="en-GB" dirty="0"/>
              <a:t>SELECT * FROM dataset.sales WHERE amount &gt; 1000;</a:t>
            </a:r>
            <a:endParaRPr lang="en-US" altLang="en-GB" dirty="0"/>
          </a:p>
          <a:p>
            <a:pPr lvl="0" indent="0">
              <a:spcBef>
                <a:spcPts val="600"/>
              </a:spcBef>
              <a:buNone/>
            </a:pPr>
            <a:r>
              <a:rPr lang="en-US" altLang="en-GB" b="1" dirty="0"/>
              <a:t>Advantages</a:t>
            </a:r>
            <a:endParaRPr lang="en-US" altLang="en-GB" b="1" dirty="0"/>
          </a:p>
          <a:p>
            <a:pPr marL="742950" lvl="1" indent="-285750">
              <a:spcBef>
                <a:spcPts val="600"/>
              </a:spcBef>
              <a:buFont typeface="Arial" panose="020B0604020202020204" pitchFamily="34" charset="0"/>
              <a:buChar char="•"/>
            </a:pPr>
            <a:r>
              <a:rPr lang="en-US" altLang="en-GB" dirty="0"/>
              <a:t>Useful for intermediate calculations</a:t>
            </a:r>
            <a:endParaRPr lang="en-US" altLang="en-GB" dirty="0"/>
          </a:p>
          <a:p>
            <a:pPr marL="742950" lvl="1" indent="-285750">
              <a:spcBef>
                <a:spcPts val="600"/>
              </a:spcBef>
              <a:buFont typeface="Arial" panose="020B0604020202020204" pitchFamily="34" charset="0"/>
              <a:buChar char="•"/>
            </a:pPr>
            <a:r>
              <a:rPr lang="en-US" altLang="en-GB" dirty="0"/>
              <a:t>No manual cleanup needed</a:t>
            </a:r>
            <a:endParaRPr lang="en-US" altLang="en-GB" dirty="0"/>
          </a:p>
          <a:p>
            <a:pPr marL="742950" lvl="1" indent="-285750">
              <a:spcBef>
                <a:spcPts val="600"/>
              </a:spcBef>
              <a:buFont typeface="Arial" panose="020B0604020202020204" pitchFamily="34" charset="0"/>
              <a:buChar char="•"/>
            </a:pPr>
            <a:r>
              <a:rPr lang="en-US" altLang="en-GB" dirty="0"/>
              <a:t>Improves query readability</a:t>
            </a:r>
            <a:endParaRPr lang="en-US" altLang="en-GB" dirty="0"/>
          </a:p>
          <a:p>
            <a:pPr lvl="0" indent="0">
              <a:spcBef>
                <a:spcPts val="600"/>
              </a:spcBef>
              <a:buNone/>
            </a:pPr>
            <a:r>
              <a:rPr lang="en-US" altLang="en-GB" b="1" dirty="0"/>
              <a:t>Limitations</a:t>
            </a:r>
            <a:endParaRPr lang="en-US" altLang="en-GB" b="1" dirty="0"/>
          </a:p>
          <a:p>
            <a:pPr marL="742950" lvl="1" indent="-285750">
              <a:spcBef>
                <a:spcPts val="600"/>
              </a:spcBef>
              <a:buFont typeface="Arial" panose="020B0604020202020204" pitchFamily="34" charset="0"/>
              <a:buChar char="•"/>
            </a:pPr>
            <a:r>
              <a:rPr lang="en-US" altLang="en-GB" dirty="0"/>
              <a:t>Not persistent</a:t>
            </a:r>
            <a:endParaRPr lang="en-US" altLang="en-GB" dirty="0"/>
          </a:p>
          <a:p>
            <a:pPr marL="742950" lvl="1" indent="-285750">
              <a:spcBef>
                <a:spcPts val="600"/>
              </a:spcBef>
              <a:buFont typeface="Arial" panose="020B0604020202020204" pitchFamily="34" charset="0"/>
              <a:buChar char="•"/>
            </a:pPr>
            <a:r>
              <a:rPr lang="en-US" altLang="en-GB" dirty="0"/>
              <a:t>Cannot be shared across sessions</a:t>
            </a:r>
            <a:endParaRPr lang="en-US" altLang="en-GB" dirty="0"/>
          </a:p>
        </p:txBody>
      </p:sp>
      <p:sp>
        <p:nvSpPr>
          <p:cNvPr id="5" name="Title 4"/>
          <p:cNvSpPr/>
          <p:nvPr>
            <p:ph type="title"/>
          </p:nvPr>
        </p:nvSpPr>
        <p:spPr>
          <a:xfrm>
            <a:off x="512900" y="322232"/>
            <a:ext cx="5715635" cy="368935"/>
          </a:xfrm>
        </p:spPr>
        <p:txBody>
          <a:bodyPr/>
          <a:p>
            <a:r>
              <a:rPr lang="en-US" altLang="en-GB">
                <a:sym typeface="+mn-ea"/>
              </a:rPr>
              <a:t>Types of table</a:t>
            </a:r>
            <a:endParaRPr lang="en-US" altLang="en-GB"/>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13690" y="666750"/>
            <a:ext cx="8684260" cy="4524375"/>
          </a:xfrm>
        </p:spPr>
        <p:txBody>
          <a:bodyPr wrap="square"/>
          <a:lstStyle/>
          <a:p>
            <a:pPr lvl="0" indent="0">
              <a:spcBef>
                <a:spcPts val="600"/>
              </a:spcBef>
              <a:buNone/>
            </a:pPr>
            <a:r>
              <a:rPr lang="en-US" altLang="en-GB" b="1" dirty="0"/>
              <a:t>Materialized Views</a:t>
            </a:r>
            <a:endParaRPr lang="en-US" altLang="en-GB" b="1" dirty="0"/>
          </a:p>
          <a:p>
            <a:pPr marL="742950" lvl="1" indent="-285750">
              <a:spcBef>
                <a:spcPts val="600"/>
              </a:spcBef>
              <a:buFont typeface="Arial" panose="020B0604020202020204" pitchFamily="34" charset="0"/>
              <a:buChar char="•"/>
            </a:pPr>
            <a:r>
              <a:rPr lang="en-US" altLang="en-GB" dirty="0"/>
              <a:t>Precomputed tables that store query results physically and update automatically.</a:t>
            </a:r>
            <a:endParaRPr lang="en-US" altLang="en-GB" dirty="0"/>
          </a:p>
          <a:p>
            <a:pPr marL="742950" lvl="1" indent="-285750">
              <a:spcBef>
                <a:spcPts val="600"/>
              </a:spcBef>
              <a:buFont typeface="Arial" panose="020B0604020202020204" pitchFamily="34" charset="0"/>
              <a:buChar char="•"/>
            </a:pPr>
            <a:endParaRPr lang="en-US" altLang="en-GB" dirty="0"/>
          </a:p>
          <a:p>
            <a:pPr lvl="1" indent="0">
              <a:spcBef>
                <a:spcPts val="600"/>
              </a:spcBef>
              <a:buFont typeface="Arial" panose="020B0604020202020204" pitchFamily="34" charset="0"/>
              <a:buNone/>
            </a:pPr>
            <a:r>
              <a:rPr lang="en-US" altLang="en-GB" dirty="0"/>
              <a:t>CREATE MATERIALIZED VIEW dataset.mv_sales AS</a:t>
            </a:r>
            <a:endParaRPr lang="en-US" altLang="en-GB" dirty="0"/>
          </a:p>
          <a:p>
            <a:pPr lvl="1" indent="0">
              <a:spcBef>
                <a:spcPts val="600"/>
              </a:spcBef>
              <a:buFont typeface="Arial" panose="020B0604020202020204" pitchFamily="34" charset="0"/>
              <a:buNone/>
            </a:pPr>
            <a:r>
              <a:rPr lang="en-US" altLang="en-GB" dirty="0"/>
              <a:t>SELECT region, SUM(amount) AS total</a:t>
            </a:r>
            <a:endParaRPr lang="en-US" altLang="en-GB" dirty="0"/>
          </a:p>
          <a:p>
            <a:pPr lvl="1" indent="0">
              <a:spcBef>
                <a:spcPts val="600"/>
              </a:spcBef>
              <a:buFont typeface="Arial" panose="020B0604020202020204" pitchFamily="34" charset="0"/>
              <a:buNone/>
            </a:pPr>
            <a:r>
              <a:rPr lang="en-US" altLang="en-GB" dirty="0"/>
              <a:t>FROM dataset.salesGROUP BY region;</a:t>
            </a:r>
            <a:endParaRPr lang="en-US" altLang="en-GB" dirty="0"/>
          </a:p>
          <a:p>
            <a:pPr lvl="0" indent="0">
              <a:spcBef>
                <a:spcPts val="600"/>
              </a:spcBef>
              <a:buNone/>
            </a:pPr>
            <a:r>
              <a:rPr lang="en-US" altLang="en-GB" b="1" dirty="0"/>
              <a:t>Advantages</a:t>
            </a:r>
            <a:endParaRPr lang="en-US" altLang="en-GB" b="1" dirty="0"/>
          </a:p>
          <a:p>
            <a:pPr marL="742950" lvl="1" indent="-285750">
              <a:spcBef>
                <a:spcPts val="600"/>
              </a:spcBef>
              <a:buFont typeface="Arial" panose="020B0604020202020204" pitchFamily="34" charset="0"/>
              <a:buChar char="•"/>
            </a:pPr>
            <a:r>
              <a:rPr lang="en-US" altLang="en-GB" dirty="0"/>
              <a:t>Faster query performance</a:t>
            </a:r>
            <a:endParaRPr lang="en-US" altLang="en-GB" dirty="0"/>
          </a:p>
          <a:p>
            <a:pPr marL="742950" lvl="1" indent="-285750">
              <a:spcBef>
                <a:spcPts val="600"/>
              </a:spcBef>
              <a:buFont typeface="Arial" panose="020B0604020202020204" pitchFamily="34" charset="0"/>
              <a:buChar char="•"/>
            </a:pPr>
            <a:r>
              <a:rPr lang="en-US" altLang="en-GB" dirty="0"/>
              <a:t>Incremental refresh</a:t>
            </a:r>
            <a:endParaRPr lang="en-US" altLang="en-GB" dirty="0"/>
          </a:p>
          <a:p>
            <a:pPr marL="742950" lvl="1" indent="-285750">
              <a:spcBef>
                <a:spcPts val="600"/>
              </a:spcBef>
              <a:buFont typeface="Arial" panose="020B0604020202020204" pitchFamily="34" charset="0"/>
              <a:buChar char="•"/>
            </a:pPr>
            <a:r>
              <a:rPr lang="en-US" altLang="en-GB" dirty="0"/>
              <a:t>Cost-efficient for repeated queries</a:t>
            </a:r>
            <a:endParaRPr lang="en-US" altLang="en-GB" dirty="0"/>
          </a:p>
          <a:p>
            <a:pPr lvl="0" indent="0">
              <a:spcBef>
                <a:spcPts val="600"/>
              </a:spcBef>
              <a:buFont typeface="Arial" panose="020B0604020202020204" pitchFamily="34" charset="0"/>
              <a:buNone/>
            </a:pPr>
            <a:r>
              <a:rPr lang="en-US" altLang="en-GB" b="1" dirty="0"/>
              <a:t>Limitations</a:t>
            </a:r>
            <a:endParaRPr lang="en-US" altLang="en-GB" b="1" dirty="0"/>
          </a:p>
          <a:p>
            <a:pPr marL="742950" lvl="1" indent="-285750">
              <a:spcBef>
                <a:spcPts val="600"/>
              </a:spcBef>
              <a:buFont typeface="Arial" panose="020B0604020202020204" pitchFamily="34" charset="0"/>
              <a:buChar char="•"/>
            </a:pPr>
            <a:r>
              <a:rPr lang="en-US" altLang="en-GB" dirty="0"/>
              <a:t>Limited SQL support</a:t>
            </a:r>
            <a:endParaRPr lang="en-US" altLang="en-GB" dirty="0"/>
          </a:p>
          <a:p>
            <a:pPr marL="742950" lvl="1" indent="-285750">
              <a:spcBef>
                <a:spcPts val="600"/>
              </a:spcBef>
              <a:buFont typeface="Arial" panose="020B0604020202020204" pitchFamily="34" charset="0"/>
              <a:buChar char="•"/>
            </a:pPr>
            <a:r>
              <a:rPr lang="en-US" altLang="en-GB" dirty="0"/>
              <a:t>Not suitable for highly dynamic data</a:t>
            </a:r>
            <a:endParaRPr lang="en-US" altLang="en-GB" dirty="0"/>
          </a:p>
        </p:txBody>
      </p:sp>
      <p:sp>
        <p:nvSpPr>
          <p:cNvPr id="5" name="Title 4"/>
          <p:cNvSpPr/>
          <p:nvPr>
            <p:ph type="title"/>
          </p:nvPr>
        </p:nvSpPr>
        <p:spPr>
          <a:xfrm>
            <a:off x="304620" y="133637"/>
            <a:ext cx="5715635" cy="368935"/>
          </a:xfrm>
        </p:spPr>
        <p:txBody>
          <a:bodyPr/>
          <a:p>
            <a:r>
              <a:rPr lang="en-US" altLang="en-GB">
                <a:sym typeface="+mn-ea"/>
              </a:rPr>
              <a:t>Types of table</a:t>
            </a:r>
            <a:endParaRPr lang="en-US" altLang="en-GB"/>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13690" y="666750"/>
            <a:ext cx="8684260" cy="4170045"/>
          </a:xfrm>
        </p:spPr>
        <p:txBody>
          <a:bodyPr wrap="square"/>
          <a:lstStyle/>
          <a:p>
            <a:pPr lvl="0" indent="0">
              <a:spcBef>
                <a:spcPts val="600"/>
              </a:spcBef>
              <a:buNone/>
            </a:pPr>
            <a:r>
              <a:rPr lang="en-US" altLang="en-GB" b="1" dirty="0"/>
              <a:t>Logical Views (Virtual Tables)</a:t>
            </a:r>
            <a:endParaRPr lang="en-US" altLang="en-GB" b="1" dirty="0"/>
          </a:p>
          <a:p>
            <a:pPr marL="742950" lvl="1" indent="-285750">
              <a:spcBef>
                <a:spcPts val="600"/>
              </a:spcBef>
              <a:buFont typeface="Arial" panose="020B0604020202020204" pitchFamily="34" charset="0"/>
              <a:buChar char="•"/>
            </a:pPr>
            <a:r>
              <a:rPr lang="en-US" altLang="en-GB" dirty="0"/>
              <a:t>Virtual tables that store only SQL query, not data.</a:t>
            </a:r>
            <a:endParaRPr lang="en-US" altLang="en-GB" dirty="0"/>
          </a:p>
          <a:p>
            <a:pPr marL="742950" lvl="1" indent="-285750">
              <a:spcBef>
                <a:spcPts val="600"/>
              </a:spcBef>
              <a:buFont typeface="Arial" panose="020B0604020202020204" pitchFamily="34" charset="0"/>
              <a:buChar char="•"/>
            </a:pPr>
            <a:endParaRPr lang="en-US" altLang="en-GB" dirty="0"/>
          </a:p>
          <a:p>
            <a:pPr lvl="1" indent="0">
              <a:spcBef>
                <a:spcPts val="600"/>
              </a:spcBef>
              <a:buNone/>
            </a:pPr>
            <a:r>
              <a:rPr lang="en-US" altLang="en-GB" dirty="0"/>
              <a:t>CREATE VIEW dataset.vw_sales AS</a:t>
            </a:r>
            <a:endParaRPr lang="en-US" altLang="en-GB" dirty="0"/>
          </a:p>
          <a:p>
            <a:pPr lvl="1" indent="0">
              <a:spcBef>
                <a:spcPts val="600"/>
              </a:spcBef>
              <a:buNone/>
            </a:pPr>
            <a:r>
              <a:rPr lang="en-US" altLang="en-GB" dirty="0"/>
              <a:t>SELECT * FROM dataset.sales WHERE amount &gt; 500;</a:t>
            </a:r>
            <a:endParaRPr lang="en-US" altLang="en-GB" dirty="0"/>
          </a:p>
          <a:p>
            <a:pPr lvl="0" indent="0">
              <a:spcBef>
                <a:spcPts val="600"/>
              </a:spcBef>
              <a:buNone/>
            </a:pPr>
            <a:r>
              <a:rPr lang="en-US" altLang="en-GB" b="1" dirty="0"/>
              <a:t>Advantages</a:t>
            </a:r>
            <a:endParaRPr lang="en-US" altLang="en-GB" b="1" dirty="0"/>
          </a:p>
          <a:p>
            <a:pPr marL="742950" lvl="1" indent="-285750">
              <a:spcBef>
                <a:spcPts val="600"/>
              </a:spcBef>
              <a:buFont typeface="Arial" panose="020B0604020202020204" pitchFamily="34" charset="0"/>
              <a:buChar char="•"/>
            </a:pPr>
            <a:r>
              <a:rPr lang="en-US" altLang="en-GB" dirty="0"/>
              <a:t>No storage cost</a:t>
            </a:r>
            <a:endParaRPr lang="en-US" altLang="en-GB" dirty="0"/>
          </a:p>
          <a:p>
            <a:pPr marL="742950" lvl="1" indent="-285750">
              <a:spcBef>
                <a:spcPts val="600"/>
              </a:spcBef>
              <a:buFont typeface="Arial" panose="020B0604020202020204" pitchFamily="34" charset="0"/>
              <a:buChar char="•"/>
            </a:pPr>
            <a:r>
              <a:rPr lang="en-US" altLang="en-GB" dirty="0"/>
              <a:t>Simplifies complex queries</a:t>
            </a:r>
            <a:endParaRPr lang="en-US" altLang="en-GB" dirty="0"/>
          </a:p>
          <a:p>
            <a:pPr marL="742950" lvl="1" indent="-285750">
              <a:spcBef>
                <a:spcPts val="600"/>
              </a:spcBef>
              <a:buFont typeface="Arial" panose="020B0604020202020204" pitchFamily="34" charset="0"/>
              <a:buChar char="•"/>
            </a:pPr>
            <a:r>
              <a:rPr lang="en-US" altLang="en-GB" dirty="0"/>
              <a:t>Provides security (hide columns)</a:t>
            </a:r>
            <a:endParaRPr lang="en-US" altLang="en-GB" dirty="0"/>
          </a:p>
          <a:p>
            <a:pPr lvl="0" indent="0">
              <a:spcBef>
                <a:spcPts val="600"/>
              </a:spcBef>
              <a:buNone/>
            </a:pPr>
            <a:r>
              <a:rPr lang="en-US" altLang="en-GB" b="1" dirty="0"/>
              <a:t>Limitations</a:t>
            </a:r>
            <a:endParaRPr lang="en-US" altLang="en-GB" b="1" dirty="0"/>
          </a:p>
          <a:p>
            <a:pPr marL="742950" lvl="1" indent="-285750">
              <a:spcBef>
                <a:spcPts val="600"/>
              </a:spcBef>
              <a:buFont typeface="Arial" panose="020B0604020202020204" pitchFamily="34" charset="0"/>
              <a:buChar char="•"/>
            </a:pPr>
            <a:r>
              <a:rPr lang="en-US" altLang="en-GB" dirty="0"/>
              <a:t>Slower than materialized views</a:t>
            </a:r>
            <a:endParaRPr lang="en-US" altLang="en-GB" dirty="0"/>
          </a:p>
          <a:p>
            <a:pPr marL="742950" lvl="1" indent="-285750">
              <a:spcBef>
                <a:spcPts val="600"/>
              </a:spcBef>
              <a:buFont typeface="Arial" panose="020B0604020202020204" pitchFamily="34" charset="0"/>
              <a:buChar char="•"/>
            </a:pPr>
            <a:r>
              <a:rPr lang="en-US" altLang="en-GB" dirty="0"/>
              <a:t>Executes query every time</a:t>
            </a:r>
            <a:endParaRPr lang="en-US" altLang="en-GB" dirty="0"/>
          </a:p>
        </p:txBody>
      </p:sp>
      <p:sp>
        <p:nvSpPr>
          <p:cNvPr id="5" name="Title 4"/>
          <p:cNvSpPr/>
          <p:nvPr>
            <p:ph type="title"/>
          </p:nvPr>
        </p:nvSpPr>
        <p:spPr>
          <a:xfrm>
            <a:off x="304620" y="133637"/>
            <a:ext cx="5715635" cy="368935"/>
          </a:xfrm>
        </p:spPr>
        <p:txBody>
          <a:bodyPr/>
          <a:p>
            <a:r>
              <a:rPr lang="en-US" altLang="en-GB">
                <a:sym typeface="+mn-ea"/>
              </a:rPr>
              <a:t>Types of table</a:t>
            </a:r>
            <a:endParaRPr lang="en-US" altLang="en-GB"/>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13690" y="666750"/>
            <a:ext cx="8684260" cy="4170045"/>
          </a:xfrm>
        </p:spPr>
        <p:txBody>
          <a:bodyPr wrap="square"/>
          <a:lstStyle/>
          <a:p>
            <a:pPr lvl="0" indent="0">
              <a:spcBef>
                <a:spcPts val="600"/>
              </a:spcBef>
              <a:buNone/>
            </a:pPr>
            <a:r>
              <a:rPr lang="en-US" altLang="en-GB" b="1" dirty="0"/>
              <a:t>Snapshot Tables</a:t>
            </a:r>
            <a:endParaRPr lang="en-US" altLang="en-GB" b="1" dirty="0"/>
          </a:p>
          <a:p>
            <a:pPr marL="742950" lvl="1" indent="-285750">
              <a:spcBef>
                <a:spcPts val="600"/>
              </a:spcBef>
              <a:buFont typeface="Arial" panose="020B0604020202020204" pitchFamily="34" charset="0"/>
              <a:buChar char="•"/>
            </a:pPr>
            <a:r>
              <a:rPr lang="en-US" altLang="en-GB" dirty="0"/>
              <a:t>A point-in-time copy of a table.</a:t>
            </a:r>
            <a:endParaRPr lang="en-US" altLang="en-GB" dirty="0"/>
          </a:p>
          <a:p>
            <a:pPr lvl="1" indent="0">
              <a:spcBef>
                <a:spcPts val="600"/>
              </a:spcBef>
              <a:buNone/>
            </a:pPr>
            <a:r>
              <a:rPr lang="en-US" altLang="en-GB" dirty="0"/>
              <a:t>CREATE SNAPSHOT TABLE dataset.sales_snapshot</a:t>
            </a:r>
            <a:endParaRPr lang="en-US" altLang="en-GB" dirty="0"/>
          </a:p>
          <a:p>
            <a:pPr lvl="1" indent="0">
              <a:spcBef>
                <a:spcPts val="600"/>
              </a:spcBef>
              <a:buNone/>
            </a:pPr>
            <a:r>
              <a:rPr lang="en-US" altLang="en-GB" dirty="0"/>
              <a:t>CLONE dataset.sales</a:t>
            </a:r>
            <a:endParaRPr lang="en-US" altLang="en-GB" dirty="0"/>
          </a:p>
          <a:p>
            <a:pPr lvl="1" indent="0">
              <a:spcBef>
                <a:spcPts val="600"/>
              </a:spcBef>
              <a:buNone/>
            </a:pPr>
            <a:r>
              <a:rPr lang="en-US" altLang="en-GB" dirty="0"/>
              <a:t>FOR SYSTEM_TIME AS OF TIMESTAMP_SUB(CURRENT_TIMESTAMP(), INTERVAL 1 DAY);</a:t>
            </a:r>
            <a:endParaRPr lang="en-US" altLang="en-GB" dirty="0"/>
          </a:p>
          <a:p>
            <a:pPr lvl="0" indent="0">
              <a:spcBef>
                <a:spcPts val="600"/>
              </a:spcBef>
              <a:buNone/>
            </a:pPr>
            <a:r>
              <a:rPr lang="en-US" altLang="en-GB" b="1" dirty="0"/>
              <a:t>Advantages</a:t>
            </a:r>
            <a:endParaRPr lang="en-US" altLang="en-GB" b="1" dirty="0"/>
          </a:p>
          <a:p>
            <a:pPr marL="742950" lvl="1" indent="-285750">
              <a:spcBef>
                <a:spcPts val="600"/>
              </a:spcBef>
              <a:buFont typeface="Arial" panose="020B0604020202020204" pitchFamily="34" charset="0"/>
              <a:buChar char="•"/>
            </a:pPr>
            <a:r>
              <a:rPr lang="en-US" altLang="en-GB" dirty="0"/>
              <a:t>Data backup &amp; recovery</a:t>
            </a:r>
            <a:endParaRPr lang="en-US" altLang="en-GB" dirty="0"/>
          </a:p>
          <a:p>
            <a:pPr marL="742950" lvl="1" indent="-285750">
              <a:spcBef>
                <a:spcPts val="600"/>
              </a:spcBef>
              <a:buFont typeface="Arial" panose="020B0604020202020204" pitchFamily="34" charset="0"/>
              <a:buChar char="•"/>
            </a:pPr>
            <a:r>
              <a:rPr lang="en-US" altLang="en-GB" dirty="0"/>
              <a:t>Supports time travel</a:t>
            </a:r>
            <a:endParaRPr lang="en-US" altLang="en-GB" dirty="0"/>
          </a:p>
          <a:p>
            <a:pPr marL="742950" lvl="1" indent="-285750">
              <a:spcBef>
                <a:spcPts val="600"/>
              </a:spcBef>
              <a:buFont typeface="Arial" panose="020B0604020202020204" pitchFamily="34" charset="0"/>
              <a:buChar char="•"/>
            </a:pPr>
            <a:r>
              <a:rPr lang="en-US" altLang="en-GB" dirty="0"/>
              <a:t>No full duplication (storage efficient)</a:t>
            </a:r>
            <a:endParaRPr lang="en-US" altLang="en-GB" dirty="0"/>
          </a:p>
          <a:p>
            <a:pPr lvl="0" indent="0">
              <a:spcBef>
                <a:spcPts val="600"/>
              </a:spcBef>
              <a:buNone/>
            </a:pPr>
            <a:r>
              <a:rPr lang="en-US" altLang="en-GB" b="1" dirty="0"/>
              <a:t>Limitations</a:t>
            </a:r>
            <a:endParaRPr lang="en-US" altLang="en-GB" b="1" dirty="0"/>
          </a:p>
          <a:p>
            <a:pPr marL="742950" lvl="1" indent="-285750">
              <a:spcBef>
                <a:spcPts val="600"/>
              </a:spcBef>
              <a:buFont typeface="Arial" panose="020B0604020202020204" pitchFamily="34" charset="0"/>
              <a:buChar char="•"/>
            </a:pPr>
            <a:r>
              <a:rPr lang="en-US" altLang="en-GB" dirty="0"/>
              <a:t>Read-only</a:t>
            </a:r>
            <a:endParaRPr lang="en-US" altLang="en-GB" dirty="0"/>
          </a:p>
          <a:p>
            <a:pPr marL="742950" lvl="1" indent="-285750">
              <a:spcBef>
                <a:spcPts val="600"/>
              </a:spcBef>
              <a:buFont typeface="Arial" panose="020B0604020202020204" pitchFamily="34" charset="0"/>
              <a:buChar char="•"/>
            </a:pPr>
            <a:r>
              <a:rPr lang="en-US" altLang="en-GB" dirty="0"/>
              <a:t>Not for real-time updates</a:t>
            </a:r>
            <a:endParaRPr lang="en-US" altLang="en-GB" dirty="0"/>
          </a:p>
        </p:txBody>
      </p:sp>
      <p:sp>
        <p:nvSpPr>
          <p:cNvPr id="5" name="Title 4"/>
          <p:cNvSpPr/>
          <p:nvPr>
            <p:ph type="title"/>
          </p:nvPr>
        </p:nvSpPr>
        <p:spPr>
          <a:xfrm>
            <a:off x="304620" y="133637"/>
            <a:ext cx="5715635" cy="368935"/>
          </a:xfrm>
        </p:spPr>
        <p:txBody>
          <a:bodyPr/>
          <a:p>
            <a:r>
              <a:rPr lang="en-US" altLang="en-GB">
                <a:sym typeface="+mn-ea"/>
              </a:rPr>
              <a:t>Types of table</a:t>
            </a:r>
            <a:endParaRPr lang="en-US" altLang="en-GB"/>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p:nvPr>
            <p:ph type="title"/>
          </p:nvPr>
        </p:nvSpPr>
        <p:spPr>
          <a:xfrm>
            <a:off x="304620" y="133637"/>
            <a:ext cx="5715635" cy="368935"/>
          </a:xfrm>
        </p:spPr>
        <p:txBody>
          <a:bodyPr/>
          <a:p>
            <a:r>
              <a:rPr lang="en-US" altLang="en-GB">
                <a:sym typeface="+mn-ea"/>
              </a:rPr>
              <a:t>Types of table</a:t>
            </a:r>
            <a:endParaRPr lang="en-US" altLang="en-GB"/>
          </a:p>
        </p:txBody>
      </p:sp>
      <p:graphicFrame>
        <p:nvGraphicFramePr>
          <p:cNvPr id="6" name="Table 5"/>
          <p:cNvGraphicFramePr/>
          <p:nvPr>
            <p:custDataLst>
              <p:tags r:id="rId1"/>
            </p:custDataLst>
          </p:nvPr>
        </p:nvGraphicFramePr>
        <p:xfrm>
          <a:off x="346075" y="731520"/>
          <a:ext cx="8156575" cy="2426970"/>
        </p:xfrm>
        <a:graphic>
          <a:graphicData uri="http://schemas.openxmlformats.org/drawingml/2006/table">
            <a:tbl>
              <a:tblPr/>
              <a:tblGrid>
                <a:gridCol w="1631315"/>
                <a:gridCol w="1631315"/>
                <a:gridCol w="1631315"/>
                <a:gridCol w="1631315"/>
                <a:gridCol w="1631315"/>
              </a:tblGrid>
              <a:tr h="346710">
                <a:tc>
                  <a:txBody>
                    <a:bodyPr/>
                    <a:p>
                      <a:r>
                        <a:rPr lang="en-US" altLang="zh-CN" sz="1100">
                          <a:ln>
                            <a:noFill/>
                          </a:ln>
                        </a:rPr>
                        <a:t>Table Type</a:t>
                      </a:r>
                      <a:endParaRPr lang="en-US" altLang="zh-CN" sz="1100">
                        <a:ln>
                          <a:noFill/>
                        </a:ln>
                      </a:endParaRPr>
                    </a:p>
                  </a:txBody>
                  <a:tcPr marL="0" marR="0" marT="0" marB="0" anchor="ctr" anchorCtr="0">
                    <a:lnL>
                      <a:noFill/>
                    </a:lnL>
                    <a:lnR>
                      <a:noFill/>
                    </a:lnR>
                    <a:lnT>
                      <a:noFill/>
                    </a:lnT>
                    <a:lnB>
                      <a:noFill/>
                    </a:lnB>
                    <a:noFill/>
                  </a:tcPr>
                </a:tc>
                <a:tc>
                  <a:txBody>
                    <a:bodyPr/>
                    <a:p>
                      <a:r>
                        <a:rPr lang="en-US" altLang="zh-CN" sz="1100">
                          <a:ln>
                            <a:noFill/>
                          </a:ln>
                        </a:rPr>
                        <a:t>Stores Data</a:t>
                      </a:r>
                      <a:endParaRPr lang="en-US" altLang="zh-CN" sz="1100">
                        <a:ln>
                          <a:noFill/>
                        </a:ln>
                      </a:endParaRPr>
                    </a:p>
                  </a:txBody>
                  <a:tcPr marL="0" marR="0" marT="0" marB="0" anchor="ctr" anchorCtr="0">
                    <a:lnL>
                      <a:noFill/>
                    </a:lnL>
                    <a:lnR>
                      <a:noFill/>
                    </a:lnR>
                    <a:lnT>
                      <a:noFill/>
                    </a:lnT>
                    <a:lnB>
                      <a:noFill/>
                    </a:lnB>
                    <a:noFill/>
                  </a:tcPr>
                </a:tc>
                <a:tc>
                  <a:txBody>
                    <a:bodyPr/>
                    <a:p>
                      <a:r>
                        <a:rPr lang="en-US" altLang="zh-CN" sz="1100">
                          <a:ln>
                            <a:noFill/>
                          </a:ln>
                        </a:rPr>
                        <a:t>Performance</a:t>
                      </a:r>
                      <a:endParaRPr lang="en-US" altLang="zh-CN" sz="1100">
                        <a:ln>
                          <a:noFill/>
                        </a:ln>
                      </a:endParaRPr>
                    </a:p>
                  </a:txBody>
                  <a:tcPr marL="0" marR="0" marT="0" marB="0" anchor="ctr" anchorCtr="0">
                    <a:lnL>
                      <a:noFill/>
                    </a:lnL>
                    <a:lnR>
                      <a:noFill/>
                    </a:lnR>
                    <a:lnT>
                      <a:noFill/>
                    </a:lnT>
                    <a:lnB>
                      <a:noFill/>
                    </a:lnB>
                    <a:noFill/>
                  </a:tcPr>
                </a:tc>
                <a:tc>
                  <a:txBody>
                    <a:bodyPr/>
                    <a:p>
                      <a:r>
                        <a:rPr lang="en-US" altLang="zh-CN" sz="1100">
                          <a:ln>
                            <a:noFill/>
                          </a:ln>
                        </a:rPr>
                        <a:t>Cost</a:t>
                      </a:r>
                      <a:endParaRPr lang="en-US" altLang="zh-CN" sz="1100">
                        <a:ln>
                          <a:noFill/>
                        </a:ln>
                      </a:endParaRPr>
                    </a:p>
                  </a:txBody>
                  <a:tcPr marL="0" marR="0" marT="0" marB="0" anchor="ctr" anchorCtr="0">
                    <a:lnL>
                      <a:noFill/>
                    </a:lnL>
                    <a:lnR>
                      <a:noFill/>
                    </a:lnR>
                    <a:lnT>
                      <a:noFill/>
                    </a:lnT>
                    <a:lnB>
                      <a:noFill/>
                    </a:lnB>
                    <a:noFill/>
                  </a:tcPr>
                </a:tc>
                <a:tc>
                  <a:txBody>
                    <a:bodyPr/>
                    <a:p>
                      <a:r>
                        <a:rPr lang="en-US" altLang="zh-CN" sz="1100">
                          <a:ln>
                            <a:noFill/>
                          </a:ln>
                        </a:rPr>
                        <a:t>Use Case</a:t>
                      </a:r>
                      <a:endParaRPr lang="en-US" altLang="zh-CN" sz="1100">
                        <a:ln>
                          <a:noFill/>
                        </a:ln>
                      </a:endParaRPr>
                    </a:p>
                  </a:txBody>
                  <a:tcPr marL="0" marR="0" marT="0" marB="0" anchor="ctr" anchorCtr="0">
                    <a:lnL>
                      <a:noFill/>
                    </a:lnL>
                    <a:lnR>
                      <a:noFill/>
                    </a:lnR>
                    <a:lnT>
                      <a:noFill/>
                    </a:lnT>
                    <a:lnB>
                      <a:noFill/>
                    </a:lnB>
                    <a:noFill/>
                  </a:tcPr>
                </a:tc>
              </a:tr>
              <a:tr h="346710">
                <a:tc>
                  <a:txBody>
                    <a:bodyPr/>
                    <a:p>
                      <a:r>
                        <a:rPr lang="en-US" altLang="zh-CN" sz="1100">
                          <a:ln>
                            <a:noFill/>
                          </a:ln>
                        </a:rPr>
                        <a:t>Native Table</a:t>
                      </a:r>
                      <a:endParaRPr lang="en-US" altLang="zh-CN" sz="1100">
                        <a:ln>
                          <a:noFill/>
                        </a:ln>
                      </a:endParaRPr>
                    </a:p>
                  </a:txBody>
                  <a:tcPr marL="0" marR="0" marT="0" marB="0" anchor="ctr" anchorCtr="0">
                    <a:lnL>
                      <a:noFill/>
                    </a:lnL>
                    <a:lnR>
                      <a:noFill/>
                    </a:lnR>
                    <a:lnT>
                      <a:noFill/>
                    </a:lnT>
                    <a:lnB>
                      <a:noFill/>
                    </a:lnB>
                    <a:noFill/>
                  </a:tcPr>
                </a:tc>
                <a:tc>
                  <a:txBody>
                    <a:bodyPr/>
                    <a:p>
                      <a:r>
                        <a:rPr lang="en-US" altLang="zh-CN" sz="1100">
                          <a:ln>
                            <a:noFill/>
                          </a:ln>
                        </a:rPr>
                        <a:t>✅ Yes</a:t>
                      </a:r>
                      <a:endParaRPr lang="en-US" altLang="zh-CN" sz="1100">
                        <a:ln>
                          <a:noFill/>
                        </a:ln>
                      </a:endParaRPr>
                    </a:p>
                  </a:txBody>
                  <a:tcPr marL="0" marR="0" marT="0" marB="0" anchor="ctr" anchorCtr="0">
                    <a:lnL>
                      <a:noFill/>
                    </a:lnL>
                    <a:lnR>
                      <a:noFill/>
                    </a:lnR>
                    <a:lnT>
                      <a:noFill/>
                    </a:lnT>
                    <a:lnB>
                      <a:noFill/>
                    </a:lnB>
                    <a:noFill/>
                  </a:tcPr>
                </a:tc>
                <a:tc>
                  <a:txBody>
                    <a:bodyPr/>
                    <a:p>
                      <a:r>
                        <a:rPr lang="zh-CN" altLang="en-US" sz="1100">
                          <a:ln>
                            <a:noFill/>
                          </a:ln>
                        </a:rPr>
                        <a:t>🚀 </a:t>
                      </a:r>
                      <a:r>
                        <a:rPr lang="en-US" altLang="zh-CN" sz="1100">
                          <a:ln>
                            <a:noFill/>
                          </a:ln>
                        </a:rPr>
                        <a:t>High</a:t>
                      </a:r>
                      <a:endParaRPr lang="en-US" altLang="zh-CN" sz="1100">
                        <a:ln>
                          <a:noFill/>
                        </a:ln>
                      </a:endParaRPr>
                    </a:p>
                  </a:txBody>
                  <a:tcPr marL="0" marR="0" marT="0" marB="0" anchor="ctr" anchorCtr="0">
                    <a:lnL>
                      <a:noFill/>
                    </a:lnL>
                    <a:lnR>
                      <a:noFill/>
                    </a:lnR>
                    <a:lnT>
                      <a:noFill/>
                    </a:lnT>
                    <a:lnB>
                      <a:noFill/>
                    </a:lnB>
                    <a:noFill/>
                  </a:tcPr>
                </a:tc>
                <a:tc>
                  <a:txBody>
                    <a:bodyPr/>
                    <a:p>
                      <a:r>
                        <a:rPr lang="en-US" altLang="zh-CN" sz="1100">
                          <a:ln>
                            <a:noFill/>
                          </a:ln>
                        </a:rPr>
                        <a:t>Storage + Query</a:t>
                      </a:r>
                      <a:endParaRPr lang="en-US" altLang="zh-CN" sz="1100">
                        <a:ln>
                          <a:noFill/>
                        </a:ln>
                      </a:endParaRPr>
                    </a:p>
                  </a:txBody>
                  <a:tcPr marL="0" marR="0" marT="0" marB="0" anchor="ctr" anchorCtr="0">
                    <a:lnL>
                      <a:noFill/>
                    </a:lnL>
                    <a:lnR>
                      <a:noFill/>
                    </a:lnR>
                    <a:lnT>
                      <a:noFill/>
                    </a:lnT>
                    <a:lnB>
                      <a:noFill/>
                    </a:lnB>
                    <a:noFill/>
                  </a:tcPr>
                </a:tc>
                <a:tc>
                  <a:txBody>
                    <a:bodyPr/>
                    <a:p>
                      <a:r>
                        <a:rPr lang="en-US" altLang="zh-CN" sz="1100">
                          <a:ln>
                            <a:noFill/>
                          </a:ln>
                        </a:rPr>
                        <a:t>Analytics</a:t>
                      </a:r>
                      <a:endParaRPr lang="en-US" altLang="zh-CN" sz="1100">
                        <a:ln>
                          <a:noFill/>
                        </a:ln>
                      </a:endParaRPr>
                    </a:p>
                  </a:txBody>
                  <a:tcPr marL="0" marR="0" marT="0" marB="0" anchor="ctr" anchorCtr="0">
                    <a:lnL>
                      <a:noFill/>
                    </a:lnL>
                    <a:lnR>
                      <a:noFill/>
                    </a:lnR>
                    <a:lnT>
                      <a:noFill/>
                    </a:lnT>
                    <a:lnB>
                      <a:noFill/>
                    </a:lnB>
                    <a:noFill/>
                  </a:tcPr>
                </a:tc>
              </a:tr>
              <a:tr h="346710">
                <a:tc>
                  <a:txBody>
                    <a:bodyPr/>
                    <a:p>
                      <a:r>
                        <a:rPr lang="en-US" altLang="zh-CN" sz="1100">
                          <a:ln>
                            <a:noFill/>
                          </a:ln>
                        </a:rPr>
                        <a:t>External Table</a:t>
                      </a:r>
                      <a:endParaRPr lang="en-US" altLang="zh-CN" sz="1100">
                        <a:ln>
                          <a:noFill/>
                        </a:ln>
                      </a:endParaRPr>
                    </a:p>
                  </a:txBody>
                  <a:tcPr marL="0" marR="0" marT="0" marB="0" anchor="ctr" anchorCtr="0">
                    <a:lnL>
                      <a:noFill/>
                    </a:lnL>
                    <a:lnR>
                      <a:noFill/>
                    </a:lnR>
                    <a:lnT>
                      <a:noFill/>
                    </a:lnT>
                    <a:lnB>
                      <a:noFill/>
                    </a:lnB>
                    <a:noFill/>
                  </a:tcPr>
                </a:tc>
                <a:tc>
                  <a:txBody>
                    <a:bodyPr/>
                    <a:p>
                      <a:r>
                        <a:rPr lang="en-US" altLang="zh-CN" sz="1100">
                          <a:ln>
                            <a:noFill/>
                          </a:ln>
                        </a:rPr>
                        <a:t>❌ No</a:t>
                      </a:r>
                      <a:endParaRPr lang="en-US" altLang="zh-CN" sz="1100">
                        <a:ln>
                          <a:noFill/>
                        </a:ln>
                      </a:endParaRPr>
                    </a:p>
                  </a:txBody>
                  <a:tcPr marL="0" marR="0" marT="0" marB="0" anchor="ctr" anchorCtr="0">
                    <a:lnL>
                      <a:noFill/>
                    </a:lnL>
                    <a:lnR>
                      <a:noFill/>
                    </a:lnR>
                    <a:lnT>
                      <a:noFill/>
                    </a:lnT>
                    <a:lnB>
                      <a:noFill/>
                    </a:lnB>
                    <a:noFill/>
                  </a:tcPr>
                </a:tc>
                <a:tc>
                  <a:txBody>
                    <a:bodyPr/>
                    <a:p>
                      <a:r>
                        <a:rPr lang="zh-CN" altLang="en-US" sz="1100">
                          <a:ln>
                            <a:noFill/>
                          </a:ln>
                        </a:rPr>
                        <a:t>⚡ </a:t>
                      </a:r>
                      <a:r>
                        <a:rPr lang="en-US" altLang="zh-CN" sz="1100">
                          <a:ln>
                            <a:noFill/>
                          </a:ln>
                        </a:rPr>
                        <a:t>Medium</a:t>
                      </a:r>
                      <a:endParaRPr lang="en-US" altLang="zh-CN" sz="1100">
                        <a:ln>
                          <a:noFill/>
                        </a:ln>
                      </a:endParaRPr>
                    </a:p>
                  </a:txBody>
                  <a:tcPr marL="0" marR="0" marT="0" marB="0" anchor="ctr" anchorCtr="0">
                    <a:lnL>
                      <a:noFill/>
                    </a:lnL>
                    <a:lnR>
                      <a:noFill/>
                    </a:lnR>
                    <a:lnT>
                      <a:noFill/>
                    </a:lnT>
                    <a:lnB>
                      <a:noFill/>
                    </a:lnB>
                    <a:noFill/>
                  </a:tcPr>
                </a:tc>
                <a:tc>
                  <a:txBody>
                    <a:bodyPr/>
                    <a:p>
                      <a:r>
                        <a:rPr lang="en-US" altLang="zh-CN" sz="1100">
                          <a:ln>
                            <a:noFill/>
                          </a:ln>
                        </a:rPr>
                        <a:t>Query Only</a:t>
                      </a:r>
                      <a:endParaRPr lang="en-US" altLang="zh-CN" sz="1100">
                        <a:ln>
                          <a:noFill/>
                        </a:ln>
                      </a:endParaRPr>
                    </a:p>
                  </a:txBody>
                  <a:tcPr marL="0" marR="0" marT="0" marB="0" anchor="ctr" anchorCtr="0">
                    <a:lnL>
                      <a:noFill/>
                    </a:lnL>
                    <a:lnR>
                      <a:noFill/>
                    </a:lnR>
                    <a:lnT>
                      <a:noFill/>
                    </a:lnT>
                    <a:lnB>
                      <a:noFill/>
                    </a:lnB>
                    <a:noFill/>
                  </a:tcPr>
                </a:tc>
                <a:tc>
                  <a:txBody>
                    <a:bodyPr/>
                    <a:p>
                      <a:r>
                        <a:rPr lang="en-US" altLang="zh-CN" sz="1100">
                          <a:ln>
                            <a:noFill/>
                          </a:ln>
                        </a:rPr>
                        <a:t>Data lake</a:t>
                      </a:r>
                      <a:endParaRPr lang="en-US" altLang="zh-CN" sz="1100">
                        <a:ln>
                          <a:noFill/>
                        </a:ln>
                      </a:endParaRPr>
                    </a:p>
                  </a:txBody>
                  <a:tcPr marL="0" marR="0" marT="0" marB="0" anchor="ctr" anchorCtr="0">
                    <a:lnL>
                      <a:noFill/>
                    </a:lnL>
                    <a:lnR>
                      <a:noFill/>
                    </a:lnR>
                    <a:lnT>
                      <a:noFill/>
                    </a:lnT>
                    <a:lnB>
                      <a:noFill/>
                    </a:lnB>
                    <a:noFill/>
                  </a:tcPr>
                </a:tc>
              </a:tr>
              <a:tr h="346710">
                <a:tc>
                  <a:txBody>
                    <a:bodyPr/>
                    <a:p>
                      <a:r>
                        <a:rPr lang="en-US" altLang="zh-CN" sz="1100">
                          <a:ln>
                            <a:noFill/>
                          </a:ln>
                        </a:rPr>
                        <a:t>Temporary Table</a:t>
                      </a:r>
                      <a:endParaRPr lang="en-US" altLang="zh-CN" sz="1100">
                        <a:ln>
                          <a:noFill/>
                        </a:ln>
                      </a:endParaRPr>
                    </a:p>
                  </a:txBody>
                  <a:tcPr marL="0" marR="0" marT="0" marB="0" anchor="ctr" anchorCtr="0">
                    <a:lnL>
                      <a:noFill/>
                    </a:lnL>
                    <a:lnR>
                      <a:noFill/>
                    </a:lnR>
                    <a:lnT>
                      <a:noFill/>
                    </a:lnT>
                    <a:lnB>
                      <a:noFill/>
                    </a:lnB>
                    <a:noFill/>
                  </a:tcPr>
                </a:tc>
                <a:tc>
                  <a:txBody>
                    <a:bodyPr/>
                    <a:p>
                      <a:r>
                        <a:rPr lang="en-US" altLang="zh-CN" sz="1100">
                          <a:ln>
                            <a:noFill/>
                          </a:ln>
                        </a:rPr>
                        <a:t>✅ Yes</a:t>
                      </a:r>
                      <a:endParaRPr lang="en-US" altLang="zh-CN" sz="1100">
                        <a:ln>
                          <a:noFill/>
                        </a:ln>
                      </a:endParaRPr>
                    </a:p>
                  </a:txBody>
                  <a:tcPr marL="0" marR="0" marT="0" marB="0" anchor="ctr" anchorCtr="0">
                    <a:lnL>
                      <a:noFill/>
                    </a:lnL>
                    <a:lnR>
                      <a:noFill/>
                    </a:lnR>
                    <a:lnT>
                      <a:noFill/>
                    </a:lnT>
                    <a:lnB>
                      <a:noFill/>
                    </a:lnB>
                    <a:noFill/>
                  </a:tcPr>
                </a:tc>
                <a:tc>
                  <a:txBody>
                    <a:bodyPr/>
                    <a:p>
                      <a:r>
                        <a:rPr lang="zh-CN" altLang="en-US" sz="1100">
                          <a:ln>
                            <a:noFill/>
                          </a:ln>
                        </a:rPr>
                        <a:t>🚀 </a:t>
                      </a:r>
                      <a:r>
                        <a:rPr lang="en-US" altLang="zh-CN" sz="1100">
                          <a:ln>
                            <a:noFill/>
                          </a:ln>
                        </a:rPr>
                        <a:t>High</a:t>
                      </a:r>
                      <a:endParaRPr lang="en-US" altLang="zh-CN" sz="1100">
                        <a:ln>
                          <a:noFill/>
                        </a:ln>
                      </a:endParaRPr>
                    </a:p>
                  </a:txBody>
                  <a:tcPr anchor="ctr" anchorCtr="0">
                    <a:lnL>
                      <a:noFill/>
                    </a:lnL>
                    <a:lnR>
                      <a:noFill/>
                    </a:lnR>
                    <a:lnT>
                      <a:noFill/>
                    </a:lnT>
                    <a:lnB>
                      <a:noFill/>
                    </a:lnB>
                    <a:noFill/>
                  </a:tcPr>
                </a:tc>
                <a:tc>
                  <a:txBody>
                    <a:bodyPr/>
                    <a:p>
                      <a:r>
                        <a:rPr lang="en-US" altLang="zh-CN" sz="1100">
                          <a:ln>
                            <a:noFill/>
                          </a:ln>
                        </a:rPr>
                        <a:t>Free (short-lived)</a:t>
                      </a:r>
                      <a:endParaRPr lang="en-US" altLang="zh-CN" sz="1100">
                        <a:ln>
                          <a:noFill/>
                        </a:ln>
                      </a:endParaRPr>
                    </a:p>
                  </a:txBody>
                  <a:tcPr marL="0" marR="0" marT="0" marB="0" anchor="ctr" anchorCtr="0">
                    <a:lnL>
                      <a:noFill/>
                    </a:lnL>
                    <a:lnR>
                      <a:noFill/>
                    </a:lnR>
                    <a:lnT>
                      <a:noFill/>
                    </a:lnT>
                    <a:lnB>
                      <a:noFill/>
                    </a:lnB>
                    <a:noFill/>
                  </a:tcPr>
                </a:tc>
                <a:tc>
                  <a:txBody>
                    <a:bodyPr/>
                    <a:p>
                      <a:r>
                        <a:rPr lang="en-US" altLang="zh-CN" sz="1100">
                          <a:ln>
                            <a:noFill/>
                          </a:ln>
                        </a:rPr>
                        <a:t>Intermediate</a:t>
                      </a:r>
                      <a:endParaRPr lang="en-US" altLang="zh-CN" sz="1100">
                        <a:ln>
                          <a:noFill/>
                        </a:ln>
                      </a:endParaRPr>
                    </a:p>
                  </a:txBody>
                  <a:tcPr marL="0" marR="0" marT="0" marB="0" anchor="ctr" anchorCtr="0">
                    <a:lnL>
                      <a:noFill/>
                    </a:lnL>
                    <a:lnR>
                      <a:noFill/>
                    </a:lnR>
                    <a:lnT>
                      <a:noFill/>
                    </a:lnT>
                    <a:lnB>
                      <a:noFill/>
                    </a:lnB>
                    <a:noFill/>
                  </a:tcPr>
                </a:tc>
              </a:tr>
              <a:tr h="346710">
                <a:tc>
                  <a:txBody>
                    <a:bodyPr/>
                    <a:p>
                      <a:r>
                        <a:rPr lang="en-US" altLang="zh-CN" sz="1100">
                          <a:ln>
                            <a:noFill/>
                          </a:ln>
                        </a:rPr>
                        <a:t>Materialized View</a:t>
                      </a:r>
                      <a:endParaRPr lang="en-US" altLang="zh-CN" sz="1100">
                        <a:ln>
                          <a:noFill/>
                        </a:ln>
                      </a:endParaRPr>
                    </a:p>
                  </a:txBody>
                  <a:tcPr marL="0" marR="0" marT="0" marB="0" anchor="ctr" anchorCtr="0">
                    <a:lnL>
                      <a:noFill/>
                    </a:lnL>
                    <a:lnR>
                      <a:noFill/>
                    </a:lnR>
                    <a:lnT>
                      <a:noFill/>
                    </a:lnT>
                    <a:lnB>
                      <a:noFill/>
                    </a:lnB>
                    <a:noFill/>
                  </a:tcPr>
                </a:tc>
                <a:tc>
                  <a:txBody>
                    <a:bodyPr/>
                    <a:p>
                      <a:r>
                        <a:rPr lang="en-US" altLang="zh-CN" sz="1100">
                          <a:ln>
                            <a:noFill/>
                          </a:ln>
                        </a:rPr>
                        <a:t>✅ Yes</a:t>
                      </a:r>
                      <a:endParaRPr lang="en-US" altLang="zh-CN" sz="1100">
                        <a:ln>
                          <a:noFill/>
                        </a:ln>
                      </a:endParaRPr>
                    </a:p>
                  </a:txBody>
                  <a:tcPr marL="0" marR="0" marT="0" marB="0" anchor="ctr" anchorCtr="0">
                    <a:lnL>
                      <a:noFill/>
                    </a:lnL>
                    <a:lnR>
                      <a:noFill/>
                    </a:lnR>
                    <a:lnT>
                      <a:noFill/>
                    </a:lnT>
                    <a:lnB>
                      <a:noFill/>
                    </a:lnB>
                    <a:noFill/>
                  </a:tcPr>
                </a:tc>
                <a:tc>
                  <a:txBody>
                    <a:bodyPr/>
                    <a:p>
                      <a:r>
                        <a:rPr lang="zh-CN" altLang="en-US" sz="1100">
                          <a:ln>
                            <a:noFill/>
                          </a:ln>
                        </a:rPr>
                        <a:t>🚀 </a:t>
                      </a:r>
                      <a:r>
                        <a:rPr lang="en-US" altLang="zh-CN" sz="1100">
                          <a:ln>
                            <a:noFill/>
                          </a:ln>
                        </a:rPr>
                        <a:t>Very High</a:t>
                      </a:r>
                      <a:endParaRPr lang="en-US" altLang="zh-CN" sz="1100">
                        <a:ln>
                          <a:noFill/>
                        </a:ln>
                      </a:endParaRPr>
                    </a:p>
                  </a:txBody>
                  <a:tcPr marL="0" marR="0" marT="0" marB="0" anchor="ctr" anchorCtr="0">
                    <a:lnL>
                      <a:noFill/>
                    </a:lnL>
                    <a:lnR>
                      <a:noFill/>
                    </a:lnR>
                    <a:lnT>
                      <a:noFill/>
                    </a:lnT>
                    <a:lnB>
                      <a:noFill/>
                    </a:lnB>
                    <a:noFill/>
                  </a:tcPr>
                </a:tc>
                <a:tc>
                  <a:txBody>
                    <a:bodyPr/>
                    <a:p>
                      <a:r>
                        <a:rPr lang="en-US" altLang="zh-CN" sz="1100">
                          <a:ln>
                            <a:noFill/>
                          </a:ln>
                        </a:rPr>
                        <a:t>Storage + Query</a:t>
                      </a:r>
                      <a:endParaRPr lang="en-US" altLang="zh-CN" sz="1100">
                        <a:ln>
                          <a:noFill/>
                        </a:ln>
                      </a:endParaRPr>
                    </a:p>
                  </a:txBody>
                  <a:tcPr marL="0" marR="0" marT="0" marB="0" anchor="ctr" anchorCtr="0">
                    <a:lnL>
                      <a:noFill/>
                    </a:lnL>
                    <a:lnR>
                      <a:noFill/>
                    </a:lnR>
                    <a:lnT>
                      <a:noFill/>
                    </a:lnT>
                    <a:lnB>
                      <a:noFill/>
                    </a:lnB>
                    <a:noFill/>
                  </a:tcPr>
                </a:tc>
                <a:tc>
                  <a:txBody>
                    <a:bodyPr/>
                    <a:p>
                      <a:r>
                        <a:rPr lang="en-US" altLang="zh-CN" sz="1100">
                          <a:ln>
                            <a:noFill/>
                          </a:ln>
                        </a:rPr>
                        <a:t>Dashboards</a:t>
                      </a:r>
                      <a:endParaRPr lang="en-US" altLang="zh-CN" sz="1100">
                        <a:ln>
                          <a:noFill/>
                        </a:ln>
                      </a:endParaRPr>
                    </a:p>
                  </a:txBody>
                  <a:tcPr marL="0" marR="0" marT="0" marB="0" anchor="ctr" anchorCtr="0">
                    <a:lnL>
                      <a:noFill/>
                    </a:lnL>
                    <a:lnR>
                      <a:noFill/>
                    </a:lnR>
                    <a:lnT>
                      <a:noFill/>
                    </a:lnT>
                    <a:lnB>
                      <a:noFill/>
                    </a:lnB>
                    <a:noFill/>
                  </a:tcPr>
                </a:tc>
              </a:tr>
              <a:tr h="346710">
                <a:tc>
                  <a:txBody>
                    <a:bodyPr/>
                    <a:p>
                      <a:r>
                        <a:rPr lang="en-US" altLang="zh-CN" sz="1100">
                          <a:ln>
                            <a:noFill/>
                          </a:ln>
                        </a:rPr>
                        <a:t>Logical View</a:t>
                      </a:r>
                      <a:endParaRPr lang="en-US" altLang="zh-CN" sz="1100">
                        <a:ln>
                          <a:noFill/>
                        </a:ln>
                      </a:endParaRPr>
                    </a:p>
                  </a:txBody>
                  <a:tcPr marL="0" marR="0" marT="0" marB="0" anchor="ctr" anchorCtr="0">
                    <a:lnL>
                      <a:noFill/>
                    </a:lnL>
                    <a:lnR>
                      <a:noFill/>
                    </a:lnR>
                    <a:lnT>
                      <a:noFill/>
                    </a:lnT>
                    <a:lnB>
                      <a:noFill/>
                    </a:lnB>
                    <a:noFill/>
                  </a:tcPr>
                </a:tc>
                <a:tc>
                  <a:txBody>
                    <a:bodyPr/>
                    <a:p>
                      <a:r>
                        <a:rPr lang="en-US" altLang="zh-CN" sz="1100">
                          <a:ln>
                            <a:noFill/>
                          </a:ln>
                        </a:rPr>
                        <a:t>❌ No</a:t>
                      </a:r>
                      <a:endParaRPr lang="en-US" altLang="zh-CN" sz="1100">
                        <a:ln>
                          <a:noFill/>
                        </a:ln>
                      </a:endParaRPr>
                    </a:p>
                  </a:txBody>
                  <a:tcPr marL="0" marR="0" marT="0" marB="0" anchor="ctr" anchorCtr="0">
                    <a:lnL>
                      <a:noFill/>
                    </a:lnL>
                    <a:lnR>
                      <a:noFill/>
                    </a:lnR>
                    <a:lnT>
                      <a:noFill/>
                    </a:lnT>
                    <a:lnB>
                      <a:noFill/>
                    </a:lnB>
                    <a:noFill/>
                  </a:tcPr>
                </a:tc>
                <a:tc>
                  <a:txBody>
                    <a:bodyPr/>
                    <a:p>
                      <a:r>
                        <a:rPr lang="zh-CN" altLang="en-US" sz="1100">
                          <a:ln>
                            <a:noFill/>
                          </a:ln>
                        </a:rPr>
                        <a:t>⚡ </a:t>
                      </a:r>
                      <a:r>
                        <a:rPr lang="en-US" altLang="zh-CN" sz="1100">
                          <a:ln>
                            <a:noFill/>
                          </a:ln>
                        </a:rPr>
                        <a:t>Medium</a:t>
                      </a:r>
                      <a:endParaRPr lang="en-US" altLang="zh-CN" sz="1100">
                        <a:ln>
                          <a:noFill/>
                        </a:ln>
                      </a:endParaRPr>
                    </a:p>
                  </a:txBody>
                  <a:tcPr marL="0" marR="0" marT="0" marB="0" anchor="ctr" anchorCtr="0">
                    <a:lnL>
                      <a:noFill/>
                    </a:lnL>
                    <a:lnR>
                      <a:noFill/>
                    </a:lnR>
                    <a:lnT>
                      <a:noFill/>
                    </a:lnT>
                    <a:lnB>
                      <a:noFill/>
                    </a:lnB>
                    <a:noFill/>
                  </a:tcPr>
                </a:tc>
                <a:tc>
                  <a:txBody>
                    <a:bodyPr/>
                    <a:p>
                      <a:r>
                        <a:rPr lang="en-US" altLang="zh-CN" sz="1100">
                          <a:ln>
                            <a:noFill/>
                          </a:ln>
                        </a:rPr>
                        <a:t>Query Only</a:t>
                      </a:r>
                      <a:endParaRPr lang="en-US" altLang="zh-CN" sz="1100">
                        <a:ln>
                          <a:noFill/>
                        </a:ln>
                      </a:endParaRPr>
                    </a:p>
                  </a:txBody>
                  <a:tcPr marL="0" marR="0" marT="0" marB="0" anchor="ctr" anchorCtr="0">
                    <a:lnL>
                      <a:noFill/>
                    </a:lnL>
                    <a:lnR>
                      <a:noFill/>
                    </a:lnR>
                    <a:lnT>
                      <a:noFill/>
                    </a:lnT>
                    <a:lnB>
                      <a:noFill/>
                    </a:lnB>
                    <a:noFill/>
                  </a:tcPr>
                </a:tc>
                <a:tc>
                  <a:txBody>
                    <a:bodyPr/>
                    <a:p>
                      <a:r>
                        <a:rPr lang="en-US" altLang="zh-CN" sz="1100">
                          <a:ln>
                            <a:noFill/>
                          </a:ln>
                        </a:rPr>
                        <a:t>Abstraction</a:t>
                      </a:r>
                      <a:endParaRPr lang="en-US" altLang="zh-CN" sz="1100">
                        <a:ln>
                          <a:noFill/>
                        </a:ln>
                      </a:endParaRPr>
                    </a:p>
                  </a:txBody>
                  <a:tcPr marL="0" marR="0" marT="0" marB="0" anchor="ctr" anchorCtr="0">
                    <a:lnL>
                      <a:noFill/>
                    </a:lnL>
                    <a:lnR>
                      <a:noFill/>
                    </a:lnR>
                    <a:lnT>
                      <a:noFill/>
                    </a:lnT>
                    <a:lnB>
                      <a:noFill/>
                    </a:lnB>
                    <a:noFill/>
                  </a:tcPr>
                </a:tc>
              </a:tr>
              <a:tr h="346710">
                <a:tc>
                  <a:txBody>
                    <a:bodyPr/>
                    <a:p>
                      <a:r>
                        <a:rPr lang="en-US" altLang="zh-CN" sz="1100">
                          <a:ln>
                            <a:noFill/>
                          </a:ln>
                        </a:rPr>
                        <a:t>Snapshot Table</a:t>
                      </a:r>
                      <a:endParaRPr lang="en-US" altLang="zh-CN" sz="1100">
                        <a:ln>
                          <a:noFill/>
                        </a:ln>
                      </a:endParaRPr>
                    </a:p>
                  </a:txBody>
                  <a:tcPr marL="0" marR="0" marT="0" marB="0" anchor="ctr" anchorCtr="0">
                    <a:lnL>
                      <a:noFill/>
                    </a:lnL>
                    <a:lnR>
                      <a:noFill/>
                    </a:lnR>
                    <a:lnT>
                      <a:noFill/>
                    </a:lnT>
                    <a:lnB>
                      <a:noFill/>
                    </a:lnB>
                    <a:noFill/>
                  </a:tcPr>
                </a:tc>
                <a:tc>
                  <a:txBody>
                    <a:bodyPr/>
                    <a:p>
                      <a:r>
                        <a:rPr lang="en-US" altLang="zh-CN" sz="1100">
                          <a:ln>
                            <a:noFill/>
                          </a:ln>
                        </a:rPr>
                        <a:t>✅ Yes</a:t>
                      </a:r>
                      <a:endParaRPr lang="en-US" altLang="zh-CN" sz="1100">
                        <a:ln>
                          <a:noFill/>
                        </a:ln>
                      </a:endParaRPr>
                    </a:p>
                  </a:txBody>
                  <a:tcPr marL="0" marR="0" marT="0" marB="0" anchor="ctr" anchorCtr="0">
                    <a:lnL>
                      <a:noFill/>
                    </a:lnL>
                    <a:lnR>
                      <a:noFill/>
                    </a:lnR>
                    <a:lnT>
                      <a:noFill/>
                    </a:lnT>
                    <a:lnB>
                      <a:noFill/>
                    </a:lnB>
                    <a:noFill/>
                  </a:tcPr>
                </a:tc>
                <a:tc>
                  <a:txBody>
                    <a:bodyPr/>
                    <a:p>
                      <a:r>
                        <a:rPr lang="zh-CN" altLang="en-US" sz="1100">
                          <a:ln>
                            <a:noFill/>
                          </a:ln>
                        </a:rPr>
                        <a:t>🚀 </a:t>
                      </a:r>
                      <a:r>
                        <a:rPr lang="en-US" altLang="zh-CN" sz="1100">
                          <a:ln>
                            <a:noFill/>
                          </a:ln>
                        </a:rPr>
                        <a:t>High</a:t>
                      </a:r>
                      <a:endParaRPr lang="en-US" altLang="zh-CN" sz="1100">
                        <a:ln>
                          <a:noFill/>
                        </a:ln>
                      </a:endParaRPr>
                    </a:p>
                  </a:txBody>
                  <a:tcPr marL="0" marR="0" marT="0" marB="0" anchor="ctr" anchorCtr="0">
                    <a:lnL>
                      <a:noFill/>
                    </a:lnL>
                    <a:lnR>
                      <a:noFill/>
                    </a:lnR>
                    <a:lnT>
                      <a:noFill/>
                    </a:lnT>
                    <a:lnB>
                      <a:noFill/>
                    </a:lnB>
                    <a:noFill/>
                  </a:tcPr>
                </a:tc>
                <a:tc>
                  <a:txBody>
                    <a:bodyPr/>
                    <a:p>
                      <a:r>
                        <a:rPr lang="en-US" altLang="zh-CN" sz="1100">
                          <a:ln>
                            <a:noFill/>
                          </a:ln>
                        </a:rPr>
                        <a:t>Low Storage</a:t>
                      </a:r>
                      <a:endParaRPr lang="en-US" altLang="zh-CN" sz="1100">
                        <a:ln>
                          <a:noFill/>
                        </a:ln>
                      </a:endParaRPr>
                    </a:p>
                  </a:txBody>
                  <a:tcPr marL="0" marR="0" marT="0" marB="0" anchor="ctr" anchorCtr="0">
                    <a:lnL>
                      <a:noFill/>
                    </a:lnL>
                    <a:lnR>
                      <a:noFill/>
                    </a:lnR>
                    <a:lnT>
                      <a:noFill/>
                    </a:lnT>
                    <a:lnB>
                      <a:noFill/>
                    </a:lnB>
                    <a:noFill/>
                  </a:tcPr>
                </a:tc>
                <a:tc>
                  <a:txBody>
                    <a:bodyPr/>
                    <a:p>
                      <a:r>
                        <a:rPr lang="en-US" altLang="zh-CN" sz="1100">
                          <a:ln>
                            <a:noFill/>
                          </a:ln>
                        </a:rPr>
                        <a:t>Backup</a:t>
                      </a:r>
                      <a:endParaRPr lang="en-US" altLang="zh-CN" sz="1100">
                        <a:ln>
                          <a:noFill/>
                        </a:ln>
                      </a:endParaRPr>
                    </a:p>
                  </a:txBody>
                  <a:tcPr marL="0" marR="0" marT="0" marB="0" anchor="ctr" anchorCtr="0">
                    <a:lnL>
                      <a:noFill/>
                    </a:lnL>
                    <a:lnR>
                      <a:noFill/>
                    </a:lnR>
                    <a:lnT>
                      <a:noFill/>
                    </a:lnT>
                    <a:lnB>
                      <a:noFill/>
                    </a:lnB>
                    <a:noFill/>
                  </a:tcPr>
                </a:tc>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p:nvPr>
            <p:ph type="title"/>
          </p:nvPr>
        </p:nvSpPr>
        <p:spPr>
          <a:xfrm>
            <a:off x="304620" y="133637"/>
            <a:ext cx="5715635" cy="368935"/>
          </a:xfrm>
        </p:spPr>
        <p:txBody>
          <a:bodyPr/>
          <a:p>
            <a:r>
              <a:rPr lang="en-US" altLang="en-GB">
                <a:sym typeface="+mn-ea"/>
              </a:rPr>
              <a:t>Table Partition</a:t>
            </a:r>
            <a:endParaRPr lang="en-US" altLang="en-GB"/>
          </a:p>
        </p:txBody>
      </p:sp>
      <p:sp>
        <p:nvSpPr>
          <p:cNvPr id="2" name="Text Box 1"/>
          <p:cNvSpPr txBox="1"/>
          <p:nvPr/>
        </p:nvSpPr>
        <p:spPr>
          <a:xfrm>
            <a:off x="309245" y="673100"/>
            <a:ext cx="8547100" cy="3457575"/>
          </a:xfrm>
          <a:prstGeom prst="rect">
            <a:avLst/>
          </a:prstGeom>
        </p:spPr>
        <p:txBody>
          <a:bodyPr>
            <a:noAutofit/>
          </a:bodyPr>
          <a:p>
            <a:r>
              <a:rPr lang="en-US" altLang="zh-CN" sz="1600"/>
              <a:t>I</a:t>
            </a:r>
            <a:r>
              <a:rPr lang="en-US" altLang="zh-CN" sz="1600">
                <a:latin typeface="+mn-lt"/>
                <a:cs typeface="+mn-lt"/>
              </a:rPr>
              <a:t>n Google BigQuery, a partitioned table is a table whose data is divided into smaller, more manageable segments called partitions. BigQuery can scan only the relevant partitions when you query the </a:t>
            </a:r>
            <a:r>
              <a:rPr lang="en-US" altLang="zh-CN" sz="1600">
                <a:latin typeface="+mn-lt"/>
                <a:cs typeface="+mn-lt"/>
              </a:rPr>
              <a:t>data, which improves performance and reduces query costs.</a:t>
            </a:r>
            <a:endParaRPr lang="en-US" altLang="zh-CN" sz="1600">
              <a:latin typeface="+mn-lt"/>
              <a:cs typeface="+mn-lt"/>
            </a:endParaRPr>
          </a:p>
          <a:p>
            <a:endParaRPr lang="en-US" altLang="zh-CN" sz="1600">
              <a:latin typeface="+mn-lt"/>
              <a:cs typeface="+mn-lt"/>
            </a:endParaRPr>
          </a:p>
          <a:p>
            <a:pPr>
              <a:spcAft>
                <a:spcPct val="60000"/>
              </a:spcAft>
            </a:pPr>
            <a:r>
              <a:rPr lang="en-US" altLang="zh-CN" sz="2000" b="1">
                <a:latin typeface="+mn-lt"/>
                <a:cs typeface="+mn-lt"/>
              </a:rPr>
              <a:t>Why use partitioned tables?</a:t>
            </a:r>
            <a:endParaRPr lang="en-US" altLang="zh-CN" sz="2000" b="1">
              <a:latin typeface="+mn-lt"/>
              <a:cs typeface="+mn-lt"/>
            </a:endParaRPr>
          </a:p>
          <a:p>
            <a:pPr marL="285750" lvl="5" indent="-285750">
              <a:buFont typeface="Arial" panose="020B0604020202020204" pitchFamily="34" charset="0"/>
              <a:buChar char="•"/>
            </a:pPr>
            <a:r>
              <a:rPr lang="en-US" altLang="zh-CN" sz="1600">
                <a:latin typeface="+mn-lt"/>
                <a:cs typeface="+mn-lt"/>
              </a:rPr>
              <a:t>Lower query costs: Only the partitions needed by the query are scanned. </a:t>
            </a:r>
            <a:endParaRPr lang="en-US" altLang="zh-CN" sz="1600">
              <a:latin typeface="+mn-lt"/>
              <a:cs typeface="+mn-lt"/>
            </a:endParaRPr>
          </a:p>
          <a:p>
            <a:pPr marL="285750" lvl="5" indent="-285750">
              <a:buFont typeface="Arial" panose="020B0604020202020204" pitchFamily="34" charset="0"/>
              <a:buChar char="•"/>
            </a:pPr>
            <a:r>
              <a:rPr lang="en-US" altLang="zh-CN" sz="1600">
                <a:latin typeface="+mn-lt"/>
                <a:cs typeface="+mn-lt"/>
              </a:rPr>
              <a:t>Faster queries: Less data needs to be read. </a:t>
            </a:r>
            <a:endParaRPr lang="en-US" altLang="zh-CN" sz="1600">
              <a:latin typeface="+mn-lt"/>
              <a:cs typeface="+mn-lt"/>
            </a:endParaRPr>
          </a:p>
          <a:p>
            <a:pPr marL="285750" lvl="5" indent="-285750">
              <a:buFont typeface="Arial" panose="020B0604020202020204" pitchFamily="34" charset="0"/>
              <a:buChar char="•"/>
            </a:pPr>
            <a:r>
              <a:rPr lang="en-US" altLang="zh-CN" sz="1600">
                <a:latin typeface="+mn-lt"/>
                <a:cs typeface="+mn-lt"/>
              </a:rPr>
              <a:t>Better data management: You can manage retention and expiration at the partition level.</a:t>
            </a:r>
            <a:endParaRPr lang="en-US" altLang="zh-CN" sz="1600">
              <a:latin typeface="+mn-lt"/>
              <a:cs typeface="+mn-lt"/>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p:nvPr>
            <p:ph type="title"/>
          </p:nvPr>
        </p:nvSpPr>
        <p:spPr>
          <a:xfrm>
            <a:off x="304620" y="133637"/>
            <a:ext cx="5715635" cy="368935"/>
          </a:xfrm>
        </p:spPr>
        <p:txBody>
          <a:bodyPr/>
          <a:p>
            <a:r>
              <a:rPr lang="en-US" altLang="en-GB">
                <a:latin typeface="+mn-lt"/>
                <a:cs typeface="+mn-lt"/>
                <a:sym typeface="+mn-ea"/>
              </a:rPr>
              <a:t>Types of partitioning in BigQuery</a:t>
            </a:r>
            <a:endParaRPr lang="en-US" altLang="en-GB"/>
          </a:p>
        </p:txBody>
      </p:sp>
      <p:sp>
        <p:nvSpPr>
          <p:cNvPr id="3" name="Text Box 2"/>
          <p:cNvSpPr txBox="1"/>
          <p:nvPr/>
        </p:nvSpPr>
        <p:spPr>
          <a:xfrm>
            <a:off x="228600" y="666750"/>
            <a:ext cx="8051165" cy="4225290"/>
          </a:xfrm>
          <a:prstGeom prst="rect">
            <a:avLst/>
          </a:prstGeom>
        </p:spPr>
        <p:txBody>
          <a:bodyPr wrap="square">
            <a:spAutoFit/>
          </a:bodyPr>
          <a:p>
            <a:pPr>
              <a:spcAft>
                <a:spcPct val="60000"/>
              </a:spcAft>
            </a:pPr>
            <a:r>
              <a:rPr lang="en-US" altLang="zh-CN" sz="1900" b="1">
                <a:latin typeface="+mn-lt"/>
                <a:cs typeface="+mn-lt"/>
              </a:rPr>
              <a:t>Ingestion-time partitioning</a:t>
            </a:r>
            <a:endParaRPr lang="en-US" altLang="zh-CN" sz="1900" b="1">
              <a:latin typeface="+mn-lt"/>
              <a:cs typeface="+mn-lt"/>
            </a:endParaRPr>
          </a:p>
          <a:p>
            <a:pPr marL="742950" lvl="1" indent="-285750">
              <a:spcAft>
                <a:spcPct val="60000"/>
              </a:spcAft>
              <a:buFont typeface="Arial" panose="020B0604020202020204" pitchFamily="34" charset="0"/>
              <a:buChar char="•"/>
            </a:pPr>
            <a:r>
              <a:rPr lang="en-US" altLang="zh-CN" sz="1600">
                <a:latin typeface="+mn-lt"/>
                <a:cs typeface="+mn-lt"/>
              </a:rPr>
              <a:t>Partitions are automatically created based on when rows are loaded into BigQuery.</a:t>
            </a:r>
            <a:endParaRPr lang="en-US" altLang="zh-CN" sz="1600">
              <a:latin typeface="+mn-lt"/>
              <a:cs typeface="+mn-lt"/>
            </a:endParaRPr>
          </a:p>
          <a:p>
            <a:r>
              <a:rPr lang="en-US" altLang="zh-CN" sz="1600">
                <a:latin typeface="+mn-lt"/>
                <a:cs typeface="+mn-lt"/>
              </a:rPr>
              <a:t>Example:</a:t>
            </a:r>
            <a:endParaRPr lang="en-US" altLang="zh-CN" sz="1600">
              <a:latin typeface="+mn-lt"/>
              <a:cs typeface="+mn-lt"/>
            </a:endParaRPr>
          </a:p>
          <a:p>
            <a:pPr lvl="5" indent="457200"/>
            <a:r>
              <a:rPr lang="en-US" altLang="zh-CN" sz="1600">
                <a:latin typeface="+mn-lt"/>
                <a:cs typeface="+mn-lt"/>
              </a:rPr>
              <a:t>CREATETABLE sales.logs</a:t>
            </a:r>
            <a:endParaRPr lang="en-US" altLang="zh-CN" sz="1600">
              <a:latin typeface="+mn-lt"/>
              <a:cs typeface="+mn-lt"/>
            </a:endParaRPr>
          </a:p>
          <a:p>
            <a:pPr lvl="5" indent="457200"/>
            <a:r>
              <a:rPr lang="en-US" altLang="zh-CN" sz="1600">
                <a:latin typeface="+mn-lt"/>
                <a:cs typeface="+mn-lt"/>
              </a:rPr>
              <a:t>(</a:t>
            </a:r>
            <a:endParaRPr lang="en-US" altLang="zh-CN" sz="1600">
              <a:latin typeface="+mn-lt"/>
              <a:cs typeface="+mn-lt"/>
            </a:endParaRPr>
          </a:p>
          <a:p>
            <a:pPr lvl="5"/>
            <a:r>
              <a:rPr lang="en-US" altLang="zh-CN" sz="1600">
                <a:latin typeface="+mn-lt"/>
                <a:cs typeface="+mn-lt"/>
              </a:rPr>
              <a:t>  	user_id STRING,</a:t>
            </a:r>
            <a:endParaRPr lang="en-US" altLang="zh-CN" sz="1600">
              <a:latin typeface="+mn-lt"/>
              <a:cs typeface="+mn-lt"/>
            </a:endParaRPr>
          </a:p>
          <a:p>
            <a:pPr lvl="5"/>
            <a:r>
              <a:rPr lang="en-US" altLang="zh-CN" sz="1600">
                <a:latin typeface="+mn-lt"/>
                <a:cs typeface="+mn-lt"/>
              </a:rPr>
              <a:t>  	event_type STRING</a:t>
            </a:r>
            <a:endParaRPr lang="en-US" altLang="zh-CN" sz="1600">
              <a:latin typeface="+mn-lt"/>
              <a:cs typeface="+mn-lt"/>
            </a:endParaRPr>
          </a:p>
          <a:p>
            <a:pPr lvl="5" indent="457200"/>
            <a:r>
              <a:rPr lang="en-US" altLang="zh-CN" sz="1600">
                <a:latin typeface="+mn-lt"/>
                <a:cs typeface="+mn-lt"/>
              </a:rPr>
              <a:t>)PARTITION BY _PARTITIONDATE;</a:t>
            </a:r>
            <a:endParaRPr lang="en-US" altLang="zh-CN" sz="1600">
              <a:latin typeface="+mn-lt"/>
              <a:cs typeface="+mn-lt"/>
            </a:endParaRPr>
          </a:p>
          <a:p>
            <a:r>
              <a:rPr lang="en-US" altLang="zh-CN" sz="1600">
                <a:latin typeface="+mn-lt"/>
                <a:cs typeface="+mn-lt"/>
              </a:rPr>
              <a:t>BigQuery maintains special pseudo-columns:</a:t>
            </a:r>
            <a:endParaRPr lang="en-US" altLang="zh-CN" sz="1600">
              <a:latin typeface="+mn-lt"/>
              <a:cs typeface="+mn-lt"/>
            </a:endParaRPr>
          </a:p>
          <a:p>
            <a:pPr lvl="2" indent="457200">
              <a:buFont typeface="Arial" panose="020B0604020202020204"/>
              <a:buNone/>
            </a:pPr>
            <a:r>
              <a:rPr lang="en-US" altLang="zh-CN" sz="1600">
                <a:latin typeface="+mn-lt"/>
                <a:cs typeface="+mn-lt"/>
              </a:rPr>
              <a:t>_PARTITIONTIME</a:t>
            </a:r>
            <a:endParaRPr lang="en-US" altLang="zh-CN" sz="1600">
              <a:latin typeface="+mn-lt"/>
              <a:cs typeface="+mn-lt"/>
            </a:endParaRPr>
          </a:p>
          <a:p>
            <a:pPr indent="457200">
              <a:buFont typeface="Arial" panose="020B0604020202020204"/>
              <a:buNone/>
            </a:pPr>
            <a:r>
              <a:rPr lang="en-US" altLang="zh-CN" sz="1600">
                <a:latin typeface="+mn-lt"/>
                <a:cs typeface="+mn-lt"/>
              </a:rPr>
              <a:t>_PARTITIONDATE</a:t>
            </a:r>
            <a:endParaRPr lang="en-US" altLang="zh-CN" sz="1600">
              <a:latin typeface="+mn-lt"/>
              <a:cs typeface="+mn-lt"/>
            </a:endParaRPr>
          </a:p>
          <a:p>
            <a:endParaRPr lang="en-US" altLang="zh-CN" sz="1600">
              <a:latin typeface="+mn-lt"/>
              <a:cs typeface="+mn-lt"/>
            </a:endParaRPr>
          </a:p>
          <a:p>
            <a:r>
              <a:rPr lang="en-US" altLang="zh-CN" sz="1600">
                <a:latin typeface="+mn-lt"/>
                <a:cs typeface="+mn-lt"/>
              </a:rPr>
              <a:t>Query example:</a:t>
            </a:r>
            <a:endParaRPr lang="en-US" altLang="zh-CN" sz="1600">
              <a:latin typeface="+mn-lt"/>
              <a:cs typeface="+mn-lt"/>
            </a:endParaRPr>
          </a:p>
          <a:p>
            <a:r>
              <a:rPr lang="en-US" altLang="zh-CN" sz="1600">
                <a:latin typeface="+mn-lt"/>
                <a:cs typeface="+mn-lt"/>
              </a:rPr>
              <a:t>SELECT* FROM sales.logs</a:t>
            </a:r>
            <a:endParaRPr lang="en-US" altLang="zh-CN" sz="1600">
              <a:latin typeface="+mn-lt"/>
              <a:cs typeface="+mn-lt"/>
            </a:endParaRPr>
          </a:p>
          <a:p>
            <a:r>
              <a:rPr lang="en-US" altLang="zh-CN" sz="1600">
                <a:latin typeface="+mn-lt"/>
                <a:cs typeface="+mn-lt"/>
              </a:rPr>
              <a:t>WHERE _PARTITIONDATE ='2026-06-01';</a:t>
            </a:r>
            <a:endParaRPr lang="en-US" altLang="zh-CN" sz="1600">
              <a:latin typeface="+mn-lt"/>
              <a:cs typeface="+mn-lt"/>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p:nvPr>
            <p:ph type="title"/>
          </p:nvPr>
        </p:nvSpPr>
        <p:spPr>
          <a:xfrm>
            <a:off x="304620" y="133637"/>
            <a:ext cx="5715635" cy="368935"/>
          </a:xfrm>
        </p:spPr>
        <p:txBody>
          <a:bodyPr/>
          <a:p>
            <a:r>
              <a:rPr lang="en-US" altLang="en-GB">
                <a:latin typeface="+mn-lt"/>
                <a:cs typeface="+mn-lt"/>
                <a:sym typeface="+mn-ea"/>
              </a:rPr>
              <a:t>Types of partitioning in BigQuery</a:t>
            </a:r>
            <a:endParaRPr lang="en-US" altLang="en-GB"/>
          </a:p>
        </p:txBody>
      </p:sp>
      <p:sp>
        <p:nvSpPr>
          <p:cNvPr id="2" name="Text Box 1"/>
          <p:cNvSpPr txBox="1"/>
          <p:nvPr/>
        </p:nvSpPr>
        <p:spPr>
          <a:xfrm>
            <a:off x="309245" y="673100"/>
            <a:ext cx="8547100" cy="3457575"/>
          </a:xfrm>
          <a:prstGeom prst="rect">
            <a:avLst/>
          </a:prstGeom>
        </p:spPr>
        <p:txBody>
          <a:bodyPr>
            <a:noAutofit/>
          </a:bodyPr>
          <a:p>
            <a:r>
              <a:rPr lang="en-US" altLang="en-GB" sz="1600">
                <a:latin typeface="+mn-lt"/>
                <a:cs typeface="+mn-lt"/>
              </a:rPr>
              <a:t>1. Time-unit column partitioning</a:t>
            </a:r>
            <a:endParaRPr lang="en-US" altLang="en-GB" sz="1600">
              <a:latin typeface="+mn-lt"/>
              <a:cs typeface="+mn-lt"/>
            </a:endParaRPr>
          </a:p>
          <a:p>
            <a:pPr marL="742950" lvl="1" indent="-285750">
              <a:buFont typeface="Arial" panose="020B0604020202020204" pitchFamily="34" charset="0"/>
              <a:buChar char="•"/>
            </a:pPr>
            <a:r>
              <a:rPr lang="en-US" altLang="en-GB" sz="1600">
                <a:latin typeface="+mn-lt"/>
                <a:cs typeface="+mn-lt"/>
              </a:rPr>
              <a:t>Partition data based on a DATE, TIMESTAMP, or DATETIME column</a:t>
            </a:r>
            <a:endParaRPr lang="en-US" altLang="en-GB" sz="1600">
              <a:latin typeface="+mn-lt"/>
              <a:cs typeface="+mn-lt"/>
            </a:endParaRPr>
          </a:p>
          <a:p>
            <a:pPr marL="742950" lvl="1" indent="-285750">
              <a:buFont typeface="Arial" panose="020B0604020202020204" pitchFamily="34" charset="0"/>
              <a:buChar char="•"/>
            </a:pPr>
            <a:endParaRPr lang="en-US" altLang="en-GB" sz="1600">
              <a:latin typeface="+mn-lt"/>
              <a:cs typeface="+mn-lt"/>
            </a:endParaRPr>
          </a:p>
          <a:p>
            <a:pPr marL="457200" lvl="1" indent="0">
              <a:buFont typeface="Arial" panose="020B0604020202020204" pitchFamily="34" charset="0"/>
              <a:buNone/>
            </a:pPr>
            <a:r>
              <a:rPr lang="en-US" altLang="en-GB" sz="1600">
                <a:latin typeface="+mn-lt"/>
                <a:cs typeface="+mn-lt"/>
              </a:rPr>
              <a:t>CREATE TABLE sales.orders</a:t>
            </a:r>
            <a:endParaRPr lang="en-US" altLang="en-GB" sz="1600">
              <a:latin typeface="+mn-lt"/>
              <a:cs typeface="+mn-lt"/>
            </a:endParaRPr>
          </a:p>
          <a:p>
            <a:pPr marL="457200" lvl="1" indent="0">
              <a:buFont typeface="Arial" panose="020B0604020202020204" pitchFamily="34" charset="0"/>
              <a:buNone/>
            </a:pPr>
            <a:r>
              <a:rPr lang="en-US" altLang="en-GB" sz="1600">
                <a:latin typeface="+mn-lt"/>
                <a:cs typeface="+mn-lt"/>
              </a:rPr>
              <a:t>(</a:t>
            </a:r>
            <a:endParaRPr lang="en-US" altLang="en-GB" sz="1600">
              <a:latin typeface="+mn-lt"/>
              <a:cs typeface="+mn-lt"/>
            </a:endParaRPr>
          </a:p>
          <a:p>
            <a:pPr marL="457200" lvl="1" indent="0">
              <a:buFont typeface="Arial" panose="020B0604020202020204" pitchFamily="34" charset="0"/>
              <a:buNone/>
            </a:pPr>
            <a:r>
              <a:rPr lang="en-US" altLang="en-GB" sz="1600">
                <a:latin typeface="+mn-lt"/>
                <a:cs typeface="+mn-lt"/>
              </a:rPr>
              <a:t>  order_id INT64,</a:t>
            </a:r>
            <a:endParaRPr lang="en-US" altLang="en-GB" sz="1600">
              <a:latin typeface="+mn-lt"/>
              <a:cs typeface="+mn-lt"/>
            </a:endParaRPr>
          </a:p>
          <a:p>
            <a:pPr marL="457200" lvl="1" indent="0">
              <a:buFont typeface="Arial" panose="020B0604020202020204" pitchFamily="34" charset="0"/>
              <a:buNone/>
            </a:pPr>
            <a:r>
              <a:rPr lang="en-US" altLang="en-GB" sz="1600">
                <a:latin typeface="+mn-lt"/>
                <a:cs typeface="+mn-lt"/>
              </a:rPr>
              <a:t>  order_date DATE,</a:t>
            </a:r>
            <a:endParaRPr lang="en-US" altLang="en-GB" sz="1600">
              <a:latin typeface="+mn-lt"/>
              <a:cs typeface="+mn-lt"/>
            </a:endParaRPr>
          </a:p>
          <a:p>
            <a:pPr marL="457200" lvl="1" indent="0">
              <a:buFont typeface="Arial" panose="020B0604020202020204" pitchFamily="34" charset="0"/>
              <a:buNone/>
            </a:pPr>
            <a:r>
              <a:rPr lang="en-US" altLang="en-GB" sz="1600">
                <a:latin typeface="+mn-lt"/>
                <a:cs typeface="+mn-lt"/>
              </a:rPr>
              <a:t>  amount NUMERIC</a:t>
            </a:r>
            <a:endParaRPr lang="en-US" altLang="en-GB" sz="1600">
              <a:latin typeface="+mn-lt"/>
              <a:cs typeface="+mn-lt"/>
            </a:endParaRPr>
          </a:p>
          <a:p>
            <a:pPr marL="457200" lvl="1" indent="0">
              <a:buFont typeface="Arial" panose="020B0604020202020204" pitchFamily="34" charset="0"/>
              <a:buNone/>
            </a:pPr>
            <a:r>
              <a:rPr lang="en-US" altLang="en-GB" sz="1600">
                <a:latin typeface="+mn-lt"/>
                <a:cs typeface="+mn-lt"/>
              </a:rPr>
              <a:t>)</a:t>
            </a:r>
            <a:endParaRPr lang="en-US" altLang="en-GB" sz="1600">
              <a:latin typeface="+mn-lt"/>
              <a:cs typeface="+mn-lt"/>
            </a:endParaRPr>
          </a:p>
          <a:p>
            <a:pPr marL="457200" lvl="1" indent="0">
              <a:buFont typeface="Arial" panose="020B0604020202020204" pitchFamily="34" charset="0"/>
              <a:buNone/>
            </a:pPr>
            <a:r>
              <a:rPr lang="en-US" altLang="en-GB" sz="1600">
                <a:latin typeface="+mn-lt"/>
                <a:cs typeface="+mn-lt"/>
              </a:rPr>
              <a:t>PARTITION BY order_date;</a:t>
            </a:r>
            <a:endParaRPr lang="en-US" altLang="en-GB" sz="1600">
              <a:latin typeface="+mn-lt"/>
              <a:cs typeface="+mn-lt"/>
            </a:endParaRPr>
          </a:p>
          <a:p>
            <a:pPr marL="457200" lvl="1" indent="0">
              <a:buFont typeface="Arial" panose="020B0604020202020204" pitchFamily="34" charset="0"/>
              <a:buNone/>
            </a:pPr>
            <a:endParaRPr lang="en-US" altLang="en-GB" sz="1600">
              <a:latin typeface="+mn-lt"/>
              <a:cs typeface="+mn-lt"/>
            </a:endParaRPr>
          </a:p>
          <a:p>
            <a:pPr marL="457200" lvl="1" indent="0">
              <a:buFont typeface="Arial" panose="020B0604020202020204" pitchFamily="34" charset="0"/>
              <a:buNone/>
            </a:pPr>
            <a:r>
              <a:rPr lang="en-US" altLang="en-GB" sz="1600">
                <a:latin typeface="+mn-lt"/>
                <a:cs typeface="+mn-lt"/>
              </a:rPr>
              <a:t>SELECT *</a:t>
            </a:r>
            <a:endParaRPr lang="en-US" altLang="en-GB" sz="1600">
              <a:latin typeface="+mn-lt"/>
              <a:cs typeface="+mn-lt"/>
            </a:endParaRPr>
          </a:p>
          <a:p>
            <a:pPr marL="457200" lvl="1" indent="0">
              <a:buFont typeface="Arial" panose="020B0604020202020204" pitchFamily="34" charset="0"/>
              <a:buNone/>
            </a:pPr>
            <a:r>
              <a:rPr lang="en-US" altLang="en-GB" sz="1600">
                <a:latin typeface="+mn-lt"/>
                <a:cs typeface="+mn-lt"/>
              </a:rPr>
              <a:t>FROM sales.orders</a:t>
            </a:r>
            <a:endParaRPr lang="en-US" altLang="en-GB" sz="1600">
              <a:latin typeface="+mn-lt"/>
              <a:cs typeface="+mn-lt"/>
            </a:endParaRPr>
          </a:p>
          <a:p>
            <a:pPr marL="457200" lvl="1" indent="0">
              <a:buFont typeface="Arial" panose="020B0604020202020204" pitchFamily="34" charset="0"/>
              <a:buNone/>
            </a:pPr>
            <a:r>
              <a:rPr lang="en-US" altLang="en-GB" sz="1600">
                <a:latin typeface="+mn-lt"/>
                <a:cs typeface="+mn-lt"/>
              </a:rPr>
              <a:t>WHERE order_date = '2026-06-01';</a:t>
            </a:r>
            <a:endParaRPr lang="en-US" altLang="en-GB" sz="1600">
              <a:latin typeface="+mn-lt"/>
              <a:cs typeface="+mn-lt"/>
            </a:endParaRPr>
          </a:p>
          <a:p>
            <a:pPr marL="457200" lvl="1" indent="0">
              <a:buFont typeface="Arial" panose="020B0604020202020204" pitchFamily="34" charset="0"/>
              <a:buNone/>
            </a:pPr>
            <a:endParaRPr lang="en-US" altLang="en-GB" sz="1600">
              <a:latin typeface="+mn-lt"/>
              <a:cs typeface="+mn-lt"/>
            </a:endParaRPr>
          </a:p>
          <a:p>
            <a:pPr marL="457200" lvl="1" indent="0">
              <a:buFont typeface="Arial" panose="020B0604020202020204" pitchFamily="34" charset="0"/>
              <a:buNone/>
            </a:pPr>
            <a:r>
              <a:rPr lang="en-US" altLang="en-GB" sz="1600">
                <a:latin typeface="+mn-lt"/>
                <a:cs typeface="+mn-lt"/>
              </a:rPr>
              <a:t>BigQuery scans only the partition for June 1, 2026.</a:t>
            </a:r>
            <a:endParaRPr lang="en-US" altLang="en-GB" sz="1600">
              <a:latin typeface="+mn-lt"/>
              <a:cs typeface="+mn-lt"/>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p:nvPr>
            <p:ph type="title"/>
          </p:nvPr>
        </p:nvSpPr>
        <p:spPr>
          <a:xfrm>
            <a:off x="304620" y="133637"/>
            <a:ext cx="5715635" cy="368935"/>
          </a:xfrm>
        </p:spPr>
        <p:txBody>
          <a:bodyPr/>
          <a:p>
            <a:r>
              <a:rPr lang="en-US" altLang="en-GB">
                <a:latin typeface="+mn-lt"/>
                <a:cs typeface="+mn-lt"/>
                <a:sym typeface="+mn-ea"/>
              </a:rPr>
              <a:t>Types of partitioning in BigQuery</a:t>
            </a:r>
            <a:endParaRPr lang="en-US" altLang="en-GB"/>
          </a:p>
        </p:txBody>
      </p:sp>
      <p:sp>
        <p:nvSpPr>
          <p:cNvPr id="2" name="Text Box 1"/>
          <p:cNvSpPr txBox="1"/>
          <p:nvPr/>
        </p:nvSpPr>
        <p:spPr>
          <a:xfrm>
            <a:off x="309245" y="673100"/>
            <a:ext cx="8547100" cy="3457575"/>
          </a:xfrm>
          <a:prstGeom prst="rect">
            <a:avLst/>
          </a:prstGeom>
        </p:spPr>
        <p:txBody>
          <a:bodyPr>
            <a:noAutofit/>
          </a:bodyPr>
          <a:p>
            <a:r>
              <a:rPr lang="en-US" altLang="en-GB" sz="1600" b="1">
                <a:latin typeface="+mn-lt"/>
                <a:cs typeface="+mn-lt"/>
              </a:rPr>
              <a:t>Time-unit column partitioning</a:t>
            </a:r>
            <a:endParaRPr lang="en-US" altLang="en-GB" sz="1600" b="1">
              <a:latin typeface="+mn-lt"/>
              <a:cs typeface="+mn-lt"/>
            </a:endParaRPr>
          </a:p>
          <a:p>
            <a:pPr marL="742950" lvl="1" indent="-285750">
              <a:buFont typeface="Arial" panose="020B0604020202020204" pitchFamily="34" charset="0"/>
              <a:buChar char="•"/>
            </a:pPr>
            <a:r>
              <a:rPr lang="en-US" altLang="en-GB" sz="1600">
                <a:latin typeface="+mn-lt"/>
                <a:cs typeface="+mn-lt"/>
              </a:rPr>
              <a:t>Partition data based on a DATE, TIMESTAMP, or DATETIME column</a:t>
            </a:r>
            <a:endParaRPr lang="en-US" altLang="en-GB" sz="1600">
              <a:latin typeface="+mn-lt"/>
              <a:cs typeface="+mn-lt"/>
            </a:endParaRPr>
          </a:p>
          <a:p>
            <a:pPr marL="742950" lvl="1" indent="-285750">
              <a:buFont typeface="Arial" panose="020B0604020202020204" pitchFamily="34" charset="0"/>
              <a:buChar char="•"/>
            </a:pPr>
            <a:endParaRPr lang="en-US" altLang="en-GB" sz="1600">
              <a:latin typeface="+mn-lt"/>
              <a:cs typeface="+mn-lt"/>
            </a:endParaRPr>
          </a:p>
          <a:p>
            <a:pPr marL="457200" lvl="1" indent="0">
              <a:buFont typeface="Arial" panose="020B0604020202020204" pitchFamily="34" charset="0"/>
              <a:buNone/>
            </a:pPr>
            <a:r>
              <a:rPr lang="en-US" altLang="en-GB" sz="1600">
                <a:latin typeface="+mn-lt"/>
                <a:cs typeface="+mn-lt"/>
              </a:rPr>
              <a:t>CREATE TABLE sales.orders</a:t>
            </a:r>
            <a:endParaRPr lang="en-US" altLang="en-GB" sz="1600">
              <a:latin typeface="+mn-lt"/>
              <a:cs typeface="+mn-lt"/>
            </a:endParaRPr>
          </a:p>
          <a:p>
            <a:pPr marL="457200" lvl="1" indent="0">
              <a:buFont typeface="Arial" panose="020B0604020202020204" pitchFamily="34" charset="0"/>
              <a:buNone/>
            </a:pPr>
            <a:r>
              <a:rPr lang="en-US" altLang="en-GB" sz="1600">
                <a:latin typeface="+mn-lt"/>
                <a:cs typeface="+mn-lt"/>
              </a:rPr>
              <a:t>(</a:t>
            </a:r>
            <a:endParaRPr lang="en-US" altLang="en-GB" sz="1600">
              <a:latin typeface="+mn-lt"/>
              <a:cs typeface="+mn-lt"/>
            </a:endParaRPr>
          </a:p>
          <a:p>
            <a:pPr marL="457200" lvl="1" indent="0">
              <a:buFont typeface="Arial" panose="020B0604020202020204" pitchFamily="34" charset="0"/>
              <a:buNone/>
            </a:pPr>
            <a:r>
              <a:rPr lang="en-US" altLang="en-GB" sz="1600">
                <a:latin typeface="+mn-lt"/>
                <a:cs typeface="+mn-lt"/>
              </a:rPr>
              <a:t>  order_id INT64,</a:t>
            </a:r>
            <a:endParaRPr lang="en-US" altLang="en-GB" sz="1600">
              <a:latin typeface="+mn-lt"/>
              <a:cs typeface="+mn-lt"/>
            </a:endParaRPr>
          </a:p>
          <a:p>
            <a:pPr marL="457200" lvl="1" indent="0">
              <a:buFont typeface="Arial" panose="020B0604020202020204" pitchFamily="34" charset="0"/>
              <a:buNone/>
            </a:pPr>
            <a:r>
              <a:rPr lang="en-US" altLang="en-GB" sz="1600">
                <a:latin typeface="+mn-lt"/>
                <a:cs typeface="+mn-lt"/>
              </a:rPr>
              <a:t>  order_date DATE,</a:t>
            </a:r>
            <a:endParaRPr lang="en-US" altLang="en-GB" sz="1600">
              <a:latin typeface="+mn-lt"/>
              <a:cs typeface="+mn-lt"/>
            </a:endParaRPr>
          </a:p>
          <a:p>
            <a:pPr marL="457200" lvl="1" indent="0">
              <a:buFont typeface="Arial" panose="020B0604020202020204" pitchFamily="34" charset="0"/>
              <a:buNone/>
            </a:pPr>
            <a:r>
              <a:rPr lang="en-US" altLang="en-GB" sz="1600">
                <a:latin typeface="+mn-lt"/>
                <a:cs typeface="+mn-lt"/>
              </a:rPr>
              <a:t>  amount NUMERIC</a:t>
            </a:r>
            <a:endParaRPr lang="en-US" altLang="en-GB" sz="1600">
              <a:latin typeface="+mn-lt"/>
              <a:cs typeface="+mn-lt"/>
            </a:endParaRPr>
          </a:p>
          <a:p>
            <a:pPr marL="457200" lvl="1" indent="0">
              <a:buFont typeface="Arial" panose="020B0604020202020204" pitchFamily="34" charset="0"/>
              <a:buNone/>
            </a:pPr>
            <a:r>
              <a:rPr lang="en-US" altLang="en-GB" sz="1600">
                <a:latin typeface="+mn-lt"/>
                <a:cs typeface="+mn-lt"/>
              </a:rPr>
              <a:t>)</a:t>
            </a:r>
            <a:endParaRPr lang="en-US" altLang="en-GB" sz="1600">
              <a:latin typeface="+mn-lt"/>
              <a:cs typeface="+mn-lt"/>
            </a:endParaRPr>
          </a:p>
          <a:p>
            <a:pPr marL="457200" lvl="1" indent="0">
              <a:buFont typeface="Arial" panose="020B0604020202020204" pitchFamily="34" charset="0"/>
              <a:buNone/>
            </a:pPr>
            <a:r>
              <a:rPr lang="en-US" altLang="en-GB" sz="1600">
                <a:latin typeface="+mn-lt"/>
                <a:cs typeface="+mn-lt"/>
              </a:rPr>
              <a:t>PARTITION BY order_date;</a:t>
            </a:r>
            <a:endParaRPr lang="en-US" altLang="en-GB" sz="1600">
              <a:latin typeface="+mn-lt"/>
              <a:cs typeface="+mn-lt"/>
            </a:endParaRPr>
          </a:p>
          <a:p>
            <a:pPr marL="457200" lvl="1" indent="0">
              <a:buFont typeface="Arial" panose="020B0604020202020204" pitchFamily="34" charset="0"/>
              <a:buNone/>
            </a:pPr>
            <a:endParaRPr lang="en-US" altLang="en-GB" sz="1600">
              <a:latin typeface="+mn-lt"/>
              <a:cs typeface="+mn-lt"/>
            </a:endParaRPr>
          </a:p>
          <a:p>
            <a:pPr marL="457200" lvl="1" indent="0">
              <a:buFont typeface="Arial" panose="020B0604020202020204" pitchFamily="34" charset="0"/>
              <a:buNone/>
            </a:pPr>
            <a:r>
              <a:rPr lang="en-US" altLang="en-GB" sz="1600">
                <a:latin typeface="+mn-lt"/>
                <a:cs typeface="+mn-lt"/>
              </a:rPr>
              <a:t>SELECT *</a:t>
            </a:r>
            <a:endParaRPr lang="en-US" altLang="en-GB" sz="1600">
              <a:latin typeface="+mn-lt"/>
              <a:cs typeface="+mn-lt"/>
            </a:endParaRPr>
          </a:p>
          <a:p>
            <a:pPr marL="457200" lvl="1" indent="0">
              <a:buFont typeface="Arial" panose="020B0604020202020204" pitchFamily="34" charset="0"/>
              <a:buNone/>
            </a:pPr>
            <a:r>
              <a:rPr lang="en-US" altLang="en-GB" sz="1600">
                <a:latin typeface="+mn-lt"/>
                <a:cs typeface="+mn-lt"/>
              </a:rPr>
              <a:t>FROM sales.orders</a:t>
            </a:r>
            <a:endParaRPr lang="en-US" altLang="en-GB" sz="1600">
              <a:latin typeface="+mn-lt"/>
              <a:cs typeface="+mn-lt"/>
            </a:endParaRPr>
          </a:p>
          <a:p>
            <a:pPr marL="457200" lvl="1" indent="0">
              <a:buFont typeface="Arial" panose="020B0604020202020204" pitchFamily="34" charset="0"/>
              <a:buNone/>
            </a:pPr>
            <a:r>
              <a:rPr lang="en-US" altLang="en-GB" sz="1600">
                <a:latin typeface="+mn-lt"/>
                <a:cs typeface="+mn-lt"/>
              </a:rPr>
              <a:t>WHERE order_date = '2026-06-01';</a:t>
            </a:r>
            <a:endParaRPr lang="en-US" altLang="en-GB" sz="1600">
              <a:latin typeface="+mn-lt"/>
              <a:cs typeface="+mn-lt"/>
            </a:endParaRPr>
          </a:p>
          <a:p>
            <a:pPr marL="457200" lvl="1" indent="0">
              <a:buFont typeface="Arial" panose="020B0604020202020204" pitchFamily="34" charset="0"/>
              <a:buNone/>
            </a:pPr>
            <a:endParaRPr lang="en-US" altLang="en-GB" sz="1600">
              <a:latin typeface="+mn-lt"/>
              <a:cs typeface="+mn-lt"/>
            </a:endParaRPr>
          </a:p>
          <a:p>
            <a:pPr marL="457200" lvl="1" indent="0">
              <a:buFont typeface="Arial" panose="020B0604020202020204" pitchFamily="34" charset="0"/>
              <a:buNone/>
            </a:pPr>
            <a:r>
              <a:rPr lang="en-US" altLang="en-GB" sz="1600">
                <a:latin typeface="+mn-lt"/>
                <a:cs typeface="+mn-lt"/>
              </a:rPr>
              <a:t>BigQuery scans only the partition for June 1, 2026.</a:t>
            </a:r>
            <a:endParaRPr lang="en-US" altLang="en-GB" sz="1600">
              <a:latin typeface="+mn-lt"/>
              <a:cs typeface="+mn-lt"/>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p:nvPr>
            <p:ph type="title"/>
          </p:nvPr>
        </p:nvSpPr>
        <p:spPr>
          <a:xfrm>
            <a:off x="304620" y="133637"/>
            <a:ext cx="5715635" cy="368935"/>
          </a:xfrm>
        </p:spPr>
        <p:txBody>
          <a:bodyPr/>
          <a:p>
            <a:r>
              <a:rPr lang="en-US" altLang="en-GB">
                <a:latin typeface="+mn-lt"/>
                <a:cs typeface="+mn-lt"/>
                <a:sym typeface="+mn-ea"/>
              </a:rPr>
              <a:t>Types of partitioning in BigQuery</a:t>
            </a:r>
            <a:endParaRPr lang="en-US" altLang="en-GB"/>
          </a:p>
        </p:txBody>
      </p:sp>
      <p:sp>
        <p:nvSpPr>
          <p:cNvPr id="2" name="Text Box 1"/>
          <p:cNvSpPr txBox="1"/>
          <p:nvPr/>
        </p:nvSpPr>
        <p:spPr>
          <a:xfrm>
            <a:off x="309245" y="673100"/>
            <a:ext cx="8547100" cy="3457575"/>
          </a:xfrm>
          <a:prstGeom prst="rect">
            <a:avLst/>
          </a:prstGeom>
        </p:spPr>
        <p:txBody>
          <a:bodyPr>
            <a:noAutofit/>
          </a:bodyPr>
          <a:p>
            <a:pPr>
              <a:lnSpc>
                <a:spcPct val="50000"/>
              </a:lnSpc>
              <a:spcBef>
                <a:spcPts val="0"/>
              </a:spcBef>
              <a:spcAft>
                <a:spcPts val="0"/>
              </a:spcAft>
            </a:pPr>
            <a:r>
              <a:rPr lang="en-US" altLang="en-GB" sz="1600" b="1">
                <a:latin typeface="+mn-lt"/>
                <a:cs typeface="+mn-lt"/>
              </a:rPr>
              <a:t>Integer range partitioning</a:t>
            </a:r>
            <a:endParaRPr lang="en-US" altLang="en-GB" sz="1600" b="1">
              <a:latin typeface="+mn-lt"/>
              <a:cs typeface="+mn-lt"/>
            </a:endParaRPr>
          </a:p>
          <a:p>
            <a:pPr>
              <a:lnSpc>
                <a:spcPct val="50000"/>
              </a:lnSpc>
              <a:spcBef>
                <a:spcPts val="0"/>
              </a:spcBef>
              <a:spcAft>
                <a:spcPts val="0"/>
              </a:spcAft>
            </a:pPr>
            <a:endParaRPr lang="en-US" altLang="en-GB" sz="1600">
              <a:latin typeface="+mn-lt"/>
              <a:cs typeface="+mn-lt"/>
            </a:endParaRPr>
          </a:p>
          <a:p>
            <a:pPr marL="742950" lvl="1" indent="-285750">
              <a:lnSpc>
                <a:spcPct val="50000"/>
              </a:lnSpc>
              <a:spcBef>
                <a:spcPts val="0"/>
              </a:spcBef>
              <a:spcAft>
                <a:spcPts val="0"/>
              </a:spcAft>
              <a:buFont typeface="Arial" panose="020B0604020202020204" pitchFamily="34" charset="0"/>
              <a:buChar char="•"/>
            </a:pPr>
            <a:r>
              <a:rPr lang="en-US" altLang="en-GB" sz="1600">
                <a:latin typeface="+mn-lt"/>
                <a:cs typeface="+mn-lt"/>
              </a:rPr>
              <a:t>Partition data based on ranges of integer values.</a:t>
            </a:r>
            <a:endParaRPr lang="en-US" altLang="en-GB" sz="1600">
              <a:latin typeface="+mn-lt"/>
              <a:cs typeface="+mn-lt"/>
            </a:endParaRPr>
          </a:p>
          <a:p>
            <a:endParaRPr lang="en-US" altLang="en-GB" sz="1600">
              <a:latin typeface="+mn-lt"/>
              <a:cs typeface="+mn-lt"/>
            </a:endParaRPr>
          </a:p>
          <a:p>
            <a:r>
              <a:rPr lang="en-US" altLang="en-GB" sz="1600">
                <a:latin typeface="+mn-lt"/>
                <a:cs typeface="+mn-lt"/>
              </a:rPr>
              <a:t>Example:</a:t>
            </a:r>
            <a:endParaRPr lang="en-US" altLang="en-GB" sz="1600">
              <a:latin typeface="+mn-lt"/>
              <a:cs typeface="+mn-lt"/>
            </a:endParaRPr>
          </a:p>
          <a:p>
            <a:endParaRPr lang="en-US" altLang="en-GB" sz="1600">
              <a:latin typeface="+mn-lt"/>
              <a:cs typeface="+mn-lt"/>
            </a:endParaRPr>
          </a:p>
          <a:p>
            <a:pPr indent="457200"/>
            <a:r>
              <a:rPr lang="en-US" altLang="en-GB" sz="1600">
                <a:latin typeface="+mn-lt"/>
                <a:cs typeface="+mn-lt"/>
              </a:rPr>
              <a:t>CREATE TABLE sales.customers(</a:t>
            </a:r>
            <a:endParaRPr lang="en-US" altLang="en-GB" sz="1600">
              <a:latin typeface="+mn-lt"/>
              <a:cs typeface="+mn-lt"/>
            </a:endParaRPr>
          </a:p>
          <a:p>
            <a:r>
              <a:rPr lang="en-US" altLang="en-GB" sz="1600">
                <a:latin typeface="+mn-lt"/>
                <a:cs typeface="+mn-lt"/>
              </a:rPr>
              <a:t>  	customer_id INT64,</a:t>
            </a:r>
            <a:endParaRPr lang="en-US" altLang="en-GB" sz="1600">
              <a:latin typeface="+mn-lt"/>
              <a:cs typeface="+mn-lt"/>
            </a:endParaRPr>
          </a:p>
          <a:p>
            <a:r>
              <a:rPr lang="en-US" altLang="en-GB" sz="1600">
                <a:latin typeface="+mn-lt"/>
                <a:cs typeface="+mn-lt"/>
              </a:rPr>
              <a:t>  	name STRING</a:t>
            </a:r>
            <a:endParaRPr lang="en-US" altLang="en-GB" sz="1600">
              <a:latin typeface="+mn-lt"/>
              <a:cs typeface="+mn-lt"/>
            </a:endParaRPr>
          </a:p>
          <a:p>
            <a:pPr indent="457200"/>
            <a:r>
              <a:rPr lang="en-US" altLang="en-GB" sz="1600">
                <a:latin typeface="+mn-lt"/>
                <a:cs typeface="+mn-lt"/>
              </a:rPr>
              <a:t>)</a:t>
            </a:r>
            <a:endParaRPr lang="en-US" altLang="en-GB" sz="1600">
              <a:latin typeface="+mn-lt"/>
              <a:cs typeface="+mn-lt"/>
            </a:endParaRPr>
          </a:p>
          <a:p>
            <a:pPr indent="457200"/>
            <a:r>
              <a:rPr lang="en-US" altLang="en-GB" sz="1600">
                <a:latin typeface="+mn-lt"/>
                <a:cs typeface="+mn-lt"/>
              </a:rPr>
              <a:t>PARTITION BY RANGE_BUCKET(</a:t>
            </a:r>
            <a:endParaRPr lang="en-US" altLang="en-GB" sz="1600">
              <a:latin typeface="+mn-lt"/>
              <a:cs typeface="+mn-lt"/>
            </a:endParaRPr>
          </a:p>
          <a:p>
            <a:r>
              <a:rPr lang="en-US" altLang="en-GB" sz="1600">
                <a:latin typeface="+mn-lt"/>
                <a:cs typeface="+mn-lt"/>
              </a:rPr>
              <a:t>  	customer_id,</a:t>
            </a:r>
            <a:endParaRPr lang="en-US" altLang="en-GB" sz="1600">
              <a:latin typeface="+mn-lt"/>
              <a:cs typeface="+mn-lt"/>
            </a:endParaRPr>
          </a:p>
          <a:p>
            <a:r>
              <a:rPr lang="en-US" altLang="en-GB" sz="1600">
                <a:latin typeface="+mn-lt"/>
                <a:cs typeface="+mn-lt"/>
              </a:rPr>
              <a:t>  	GENERATE_ARRAY(0, 100000, 1000)</a:t>
            </a:r>
            <a:endParaRPr lang="en-US" altLang="en-GB" sz="1600">
              <a:latin typeface="+mn-lt"/>
              <a:cs typeface="+mn-lt"/>
            </a:endParaRPr>
          </a:p>
          <a:p>
            <a:pPr indent="457200"/>
            <a:r>
              <a:rPr lang="en-US" altLang="en-GB" sz="1600">
                <a:latin typeface="+mn-lt"/>
                <a:cs typeface="+mn-lt"/>
              </a:rPr>
              <a:t>);</a:t>
            </a:r>
            <a:endParaRPr lang="en-US" altLang="en-GB" sz="1600">
              <a:latin typeface="+mn-lt"/>
              <a:cs typeface="+mn-lt"/>
            </a:endParaRPr>
          </a:p>
          <a:p>
            <a:endParaRPr lang="en-US" altLang="en-GB" sz="1600">
              <a:latin typeface="+mn-lt"/>
              <a:cs typeface="+mn-lt"/>
            </a:endParaRPr>
          </a:p>
          <a:p>
            <a:r>
              <a:rPr lang="en-US" altLang="en-GB" sz="1600">
                <a:latin typeface="+mn-lt"/>
                <a:cs typeface="+mn-lt"/>
              </a:rPr>
              <a:t>This creates partitions for customer ID ranges such as:</a:t>
            </a:r>
            <a:endParaRPr lang="en-US" altLang="en-GB" sz="1600">
              <a:latin typeface="+mn-lt"/>
              <a:cs typeface="+mn-lt"/>
            </a:endParaRPr>
          </a:p>
          <a:p>
            <a:r>
              <a:rPr lang="en-US" altLang="en-GB" sz="1600">
                <a:latin typeface="+mn-lt"/>
                <a:cs typeface="+mn-lt"/>
              </a:rPr>
              <a:t>0–999</a:t>
            </a:r>
            <a:endParaRPr lang="en-US" altLang="en-GB" sz="1600">
              <a:latin typeface="+mn-lt"/>
              <a:cs typeface="+mn-lt"/>
            </a:endParaRPr>
          </a:p>
          <a:p>
            <a:r>
              <a:rPr lang="en-US" altLang="en-GB" sz="1600">
                <a:latin typeface="+mn-lt"/>
                <a:cs typeface="+mn-lt"/>
              </a:rPr>
              <a:t>1000–1999</a:t>
            </a:r>
            <a:endParaRPr lang="en-US" altLang="en-GB" sz="1600">
              <a:latin typeface="+mn-lt"/>
              <a:cs typeface="+mn-lt"/>
            </a:endParaRPr>
          </a:p>
          <a:p>
            <a:r>
              <a:rPr lang="en-US" altLang="en-GB" sz="1600">
                <a:latin typeface="+mn-lt"/>
                <a:cs typeface="+mn-lt"/>
              </a:rPr>
              <a:t>2000–2999</a:t>
            </a:r>
            <a:endParaRPr lang="en-US" altLang="en-GB" sz="1600">
              <a:latin typeface="+mn-lt"/>
              <a:cs typeface="+mn-lt"/>
            </a:endParaRPr>
          </a:p>
          <a:p>
            <a:r>
              <a:rPr lang="en-US" altLang="en-GB" sz="1600">
                <a:latin typeface="+mn-lt"/>
                <a:cs typeface="+mn-lt"/>
              </a:rPr>
              <a:t>etc.</a:t>
            </a:r>
            <a:endParaRPr lang="en-US" altLang="en-GB" sz="1600">
              <a:latin typeface="+mn-lt"/>
              <a:cs typeface="+mn-lt"/>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p:nvPr>
            <p:ph type="title"/>
          </p:nvPr>
        </p:nvSpPr>
        <p:spPr>
          <a:xfrm>
            <a:off x="304620" y="133637"/>
            <a:ext cx="5715635" cy="368935"/>
          </a:xfrm>
        </p:spPr>
        <p:txBody>
          <a:bodyPr/>
          <a:p>
            <a:r>
              <a:rPr lang="en-US" altLang="en-GB">
                <a:latin typeface="+mn-lt"/>
                <a:cs typeface="+mn-lt"/>
                <a:sym typeface="+mn-ea"/>
              </a:rPr>
              <a:t>Bigquery Clustring</a:t>
            </a:r>
            <a:endParaRPr lang="en-US" altLang="en-GB"/>
          </a:p>
        </p:txBody>
      </p:sp>
      <p:sp>
        <p:nvSpPr>
          <p:cNvPr id="3" name="Text Box 2"/>
          <p:cNvSpPr txBox="1"/>
          <p:nvPr/>
        </p:nvSpPr>
        <p:spPr>
          <a:xfrm>
            <a:off x="332740" y="659765"/>
            <a:ext cx="8402955" cy="3717290"/>
          </a:xfrm>
          <a:prstGeom prst="rect">
            <a:avLst/>
          </a:prstGeom>
        </p:spPr>
        <p:txBody>
          <a:bodyPr>
            <a:noAutofit/>
          </a:bodyPr>
          <a:p>
            <a:r>
              <a:rPr lang="en-US" altLang="zh-CN" sz="1600">
                <a:latin typeface="+mn-lt"/>
                <a:cs typeface="+mn-lt"/>
              </a:rPr>
              <a:t>Clustering in BigQuery is a way to organize data within a table (or within each partition) based on the values of one or more columns. BigQuery stores rows with similar values close together, allowing it to skip irrelevant data blocks during query execution.</a:t>
            </a:r>
            <a:endParaRPr lang="en-US" altLang="zh-CN" sz="1600">
              <a:latin typeface="+mn-lt"/>
              <a:cs typeface="+mn-lt"/>
            </a:endParaRPr>
          </a:p>
          <a:p>
            <a:pPr>
              <a:lnSpc>
                <a:spcPct val="10000"/>
              </a:lnSpc>
              <a:spcAft>
                <a:spcPct val="60000"/>
              </a:spcAft>
            </a:pPr>
            <a:endParaRPr lang="en-US" altLang="zh-CN" sz="2000" b="1">
              <a:latin typeface="+mn-lt"/>
              <a:cs typeface="+mn-lt"/>
            </a:endParaRPr>
          </a:p>
          <a:p>
            <a:pPr>
              <a:spcAft>
                <a:spcPct val="60000"/>
              </a:spcAft>
            </a:pPr>
            <a:r>
              <a:rPr lang="en-US" altLang="zh-CN" sz="2000" b="1">
                <a:latin typeface="+mn-lt"/>
                <a:cs typeface="+mn-lt"/>
              </a:rPr>
              <a:t>Why use clustering?</a:t>
            </a:r>
            <a:endParaRPr lang="en-US" altLang="zh-CN" sz="2000" b="1">
              <a:latin typeface="+mn-lt"/>
              <a:cs typeface="+mn-lt"/>
            </a:endParaRPr>
          </a:p>
          <a:p>
            <a:pPr marL="742950" lvl="5" indent="-285750">
              <a:buFont typeface="Arial" panose="020B0604020202020204" pitchFamily="34" charset="0"/>
              <a:buChar char="•"/>
            </a:pPr>
            <a:r>
              <a:rPr lang="en-US" altLang="zh-CN" sz="1600">
                <a:latin typeface="+mn-lt"/>
                <a:cs typeface="+mn-lt"/>
              </a:rPr>
              <a:t> Faster query performance </a:t>
            </a:r>
            <a:endParaRPr lang="en-US" altLang="zh-CN" sz="1600">
              <a:latin typeface="+mn-lt"/>
              <a:cs typeface="+mn-lt"/>
            </a:endParaRPr>
          </a:p>
          <a:p>
            <a:pPr marL="742950" lvl="5" indent="-285750">
              <a:buFont typeface="Arial" panose="020B0604020202020204" pitchFamily="34" charset="0"/>
              <a:buChar char="•"/>
            </a:pPr>
            <a:r>
              <a:rPr lang="en-US" altLang="zh-CN" sz="1600">
                <a:latin typeface="+mn-lt"/>
                <a:cs typeface="+mn-lt"/>
              </a:rPr>
              <a:t> Reduced data scanned </a:t>
            </a:r>
            <a:endParaRPr lang="en-US" altLang="zh-CN" sz="1600">
              <a:latin typeface="+mn-lt"/>
              <a:cs typeface="+mn-lt"/>
            </a:endParaRPr>
          </a:p>
          <a:p>
            <a:pPr marL="742950" lvl="5" indent="-285750">
              <a:buFont typeface="Arial" panose="020B0604020202020204" pitchFamily="34" charset="0"/>
              <a:buChar char="•"/>
            </a:pPr>
            <a:r>
              <a:rPr lang="en-US" altLang="zh-CN" sz="1600">
                <a:latin typeface="+mn-lt"/>
                <a:cs typeface="+mn-lt"/>
              </a:rPr>
              <a:t> Lower query costs </a:t>
            </a:r>
            <a:endParaRPr lang="en-US" altLang="zh-CN" sz="1600">
              <a:latin typeface="+mn-lt"/>
              <a:cs typeface="+mn-lt"/>
            </a:endParaRPr>
          </a:p>
          <a:p>
            <a:pPr marL="742950" lvl="5" indent="-285750">
              <a:buFont typeface="Arial" panose="020B0604020202020204" pitchFamily="34" charset="0"/>
              <a:buChar char="•"/>
            </a:pPr>
            <a:r>
              <a:rPr lang="en-US" altLang="zh-CN" sz="1600">
                <a:latin typeface="+mn-lt"/>
                <a:cs typeface="+mn-lt"/>
              </a:rPr>
              <a:t> Particularly useful for columns frequently used in: </a:t>
            </a:r>
            <a:endParaRPr lang="en-US" altLang="zh-CN" sz="1600">
              <a:latin typeface="+mn-lt"/>
              <a:cs typeface="+mn-lt"/>
            </a:endParaRPr>
          </a:p>
          <a:p>
            <a:pPr marL="742950" lvl="6" indent="-285750">
              <a:buFont typeface="Arial" panose="020B0604020202020204" pitchFamily="34" charset="0"/>
              <a:buChar char="•"/>
            </a:pPr>
            <a:r>
              <a:rPr lang="en-US" altLang="zh-CN" sz="1600">
                <a:latin typeface="+mn-lt"/>
                <a:cs typeface="+mn-lt"/>
              </a:rPr>
              <a:t>WHERE filters </a:t>
            </a:r>
            <a:endParaRPr lang="en-US" altLang="zh-CN" sz="1600">
              <a:latin typeface="+mn-lt"/>
              <a:cs typeface="+mn-lt"/>
            </a:endParaRPr>
          </a:p>
          <a:p>
            <a:pPr marL="742950" lvl="6" indent="-285750">
              <a:buFont typeface="Arial" panose="020B0604020202020204" pitchFamily="34" charset="0"/>
              <a:buChar char="•"/>
            </a:pPr>
            <a:r>
              <a:rPr lang="en-US" altLang="zh-CN" sz="1600">
                <a:latin typeface="+mn-lt"/>
                <a:cs typeface="+mn-lt"/>
              </a:rPr>
              <a:t>JOIN conditions </a:t>
            </a:r>
            <a:endParaRPr lang="en-US" altLang="zh-CN" sz="1600">
              <a:latin typeface="+mn-lt"/>
              <a:cs typeface="+mn-lt"/>
            </a:endParaRPr>
          </a:p>
          <a:p>
            <a:pPr marL="742950" lvl="6" indent="-285750">
              <a:buFont typeface="Arial" panose="020B0604020202020204" pitchFamily="34" charset="0"/>
              <a:buChar char="•"/>
            </a:pPr>
            <a:r>
              <a:rPr lang="en-US" altLang="zh-CN" sz="1600">
                <a:latin typeface="+mn-lt"/>
                <a:cs typeface="+mn-lt"/>
              </a:rPr>
              <a:t>GROUP BY clauses </a:t>
            </a:r>
            <a:endParaRPr lang="en-US" altLang="zh-CN" sz="1600">
              <a:latin typeface="+mn-lt"/>
              <a:cs typeface="+mn-lt"/>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p:nvPr>
            <p:ph type="title"/>
          </p:nvPr>
        </p:nvSpPr>
        <p:spPr>
          <a:xfrm>
            <a:off x="304620" y="133637"/>
            <a:ext cx="5715635" cy="368935"/>
          </a:xfrm>
        </p:spPr>
        <p:txBody>
          <a:bodyPr/>
          <a:p>
            <a:r>
              <a:rPr lang="en-US" altLang="en-GB">
                <a:latin typeface="+mn-lt"/>
                <a:cs typeface="+mn-lt"/>
                <a:sym typeface="+mn-ea"/>
              </a:rPr>
              <a:t>Bigquery Clustring</a:t>
            </a:r>
            <a:endParaRPr lang="en-US" altLang="en-GB"/>
          </a:p>
        </p:txBody>
      </p:sp>
      <p:sp>
        <p:nvSpPr>
          <p:cNvPr id="3" name="Text Box 2"/>
          <p:cNvSpPr txBox="1"/>
          <p:nvPr/>
        </p:nvSpPr>
        <p:spPr>
          <a:xfrm>
            <a:off x="332740" y="659765"/>
            <a:ext cx="8549640" cy="3717290"/>
          </a:xfrm>
          <a:prstGeom prst="rect">
            <a:avLst/>
          </a:prstGeom>
        </p:spPr>
        <p:txBody>
          <a:bodyPr>
            <a:noAutofit/>
          </a:bodyPr>
          <a:p>
            <a:r>
              <a:rPr lang="en-US" altLang="en-GB" sz="1600">
                <a:latin typeface="+mn-lt"/>
                <a:cs typeface="+mn-lt"/>
              </a:rPr>
              <a:t>CREATE TABLE sales.orders</a:t>
            </a:r>
            <a:endParaRPr lang="en-US" altLang="en-GB" sz="1600">
              <a:latin typeface="+mn-lt"/>
              <a:cs typeface="+mn-lt"/>
            </a:endParaRPr>
          </a:p>
          <a:p>
            <a:r>
              <a:rPr lang="en-US" altLang="en-GB" sz="1600">
                <a:latin typeface="+mn-lt"/>
                <a:cs typeface="+mn-lt"/>
              </a:rPr>
              <a:t>(</a:t>
            </a:r>
            <a:endParaRPr lang="en-US" altLang="en-GB" sz="1600">
              <a:latin typeface="+mn-lt"/>
              <a:cs typeface="+mn-lt"/>
            </a:endParaRPr>
          </a:p>
          <a:p>
            <a:r>
              <a:rPr lang="en-US" altLang="en-GB" sz="1600">
                <a:latin typeface="+mn-lt"/>
                <a:cs typeface="+mn-lt"/>
              </a:rPr>
              <a:t>  order_id INT64,</a:t>
            </a:r>
            <a:endParaRPr lang="en-US" altLang="en-GB" sz="1600">
              <a:latin typeface="+mn-lt"/>
              <a:cs typeface="+mn-lt"/>
            </a:endParaRPr>
          </a:p>
          <a:p>
            <a:r>
              <a:rPr lang="en-US" altLang="en-GB" sz="1600">
                <a:latin typeface="+mn-lt"/>
                <a:cs typeface="+mn-lt"/>
              </a:rPr>
              <a:t>  customer_id INT64,</a:t>
            </a:r>
            <a:endParaRPr lang="en-US" altLang="en-GB" sz="1600">
              <a:latin typeface="+mn-lt"/>
              <a:cs typeface="+mn-lt"/>
            </a:endParaRPr>
          </a:p>
          <a:p>
            <a:r>
              <a:rPr lang="en-US" altLang="en-GB" sz="1600">
                <a:latin typeface="+mn-lt"/>
                <a:cs typeface="+mn-lt"/>
              </a:rPr>
              <a:t>  country STRING,</a:t>
            </a:r>
            <a:endParaRPr lang="en-US" altLang="en-GB" sz="1600">
              <a:latin typeface="+mn-lt"/>
              <a:cs typeface="+mn-lt"/>
            </a:endParaRPr>
          </a:p>
          <a:p>
            <a:r>
              <a:rPr lang="en-US" altLang="en-GB" sz="1600">
                <a:latin typeface="+mn-lt"/>
                <a:cs typeface="+mn-lt"/>
              </a:rPr>
              <a:t>  amount NUMERIC</a:t>
            </a:r>
            <a:endParaRPr lang="en-US" altLang="en-GB" sz="1600">
              <a:latin typeface="+mn-lt"/>
              <a:cs typeface="+mn-lt"/>
            </a:endParaRPr>
          </a:p>
          <a:p>
            <a:r>
              <a:rPr lang="en-US" altLang="en-GB" sz="1600">
                <a:latin typeface="+mn-lt"/>
                <a:cs typeface="+mn-lt"/>
              </a:rPr>
              <a:t>)</a:t>
            </a:r>
            <a:endParaRPr lang="en-US" altLang="en-GB" sz="1600">
              <a:latin typeface="+mn-lt"/>
              <a:cs typeface="+mn-lt"/>
            </a:endParaRPr>
          </a:p>
          <a:p>
            <a:r>
              <a:rPr lang="en-US" altLang="en-GB" sz="1600">
                <a:latin typeface="+mn-lt"/>
                <a:cs typeface="+mn-lt"/>
              </a:rPr>
              <a:t>CLUSTER BY customer_id;</a:t>
            </a:r>
            <a:endParaRPr lang="en-US" altLang="en-GB" sz="1600">
              <a:latin typeface="+mn-lt"/>
              <a:cs typeface="+mn-lt"/>
            </a:endParaRPr>
          </a:p>
          <a:p>
            <a:endParaRPr lang="en-US" altLang="en-GB" sz="1600">
              <a:latin typeface="+mn-lt"/>
              <a:cs typeface="+mn-lt"/>
            </a:endParaRPr>
          </a:p>
          <a:p>
            <a:r>
              <a:rPr lang="en-US" altLang="en-GB" sz="1600">
                <a:latin typeface="+mn-lt"/>
                <a:cs typeface="+mn-lt"/>
              </a:rPr>
              <a:t>BigQuery organizes the data so rows with the same or similar customer_id values are stored together.</a:t>
            </a:r>
            <a:endParaRPr lang="en-US" altLang="en-GB" sz="1600">
              <a:latin typeface="+mn-lt"/>
              <a:cs typeface="+mn-lt"/>
            </a:endParaRPr>
          </a:p>
          <a:p>
            <a:endParaRPr lang="en-US" altLang="en-GB" sz="1600">
              <a:latin typeface="+mn-lt"/>
              <a:cs typeface="+mn-lt"/>
            </a:endParaRPr>
          </a:p>
          <a:p>
            <a:r>
              <a:rPr lang="en-US" altLang="en-GB" sz="1600">
                <a:latin typeface="+mn-lt"/>
                <a:cs typeface="+mn-lt"/>
              </a:rPr>
              <a:t>When you run:</a:t>
            </a:r>
            <a:endParaRPr lang="en-US" altLang="en-GB" sz="1600">
              <a:latin typeface="+mn-lt"/>
              <a:cs typeface="+mn-lt"/>
            </a:endParaRPr>
          </a:p>
          <a:p>
            <a:endParaRPr lang="en-US" altLang="en-GB" sz="1600">
              <a:latin typeface="+mn-lt"/>
              <a:cs typeface="+mn-lt"/>
            </a:endParaRPr>
          </a:p>
          <a:p>
            <a:r>
              <a:rPr lang="en-US" altLang="en-GB" sz="1600">
                <a:latin typeface="+mn-lt"/>
                <a:cs typeface="+mn-lt"/>
              </a:rPr>
              <a:t>SELECT * FROM sales.orders</a:t>
            </a:r>
            <a:endParaRPr lang="en-US" altLang="en-GB" sz="1600">
              <a:latin typeface="+mn-lt"/>
              <a:cs typeface="+mn-lt"/>
            </a:endParaRPr>
          </a:p>
          <a:p>
            <a:r>
              <a:rPr lang="en-US" altLang="en-GB" sz="1600">
                <a:latin typeface="+mn-lt"/>
                <a:cs typeface="+mn-lt"/>
              </a:rPr>
              <a:t>WHERE customer_id = 12345;</a:t>
            </a:r>
            <a:endParaRPr lang="en-US" altLang="en-GB" sz="1600">
              <a:latin typeface="+mn-lt"/>
              <a:cs typeface="+mn-lt"/>
            </a:endParaRPr>
          </a:p>
          <a:p>
            <a:endParaRPr lang="en-US" altLang="en-GB" sz="1600">
              <a:latin typeface="+mn-lt"/>
              <a:cs typeface="+mn-lt"/>
            </a:endParaRPr>
          </a:p>
          <a:p>
            <a:r>
              <a:rPr lang="en-US" altLang="en-GB" sz="1600">
                <a:latin typeface="+mn-lt"/>
                <a:cs typeface="+mn-lt"/>
              </a:rPr>
              <a:t>BigQuery can skip many storage blocks that don't contain that customer ID</a:t>
            </a:r>
            <a:endParaRPr lang="en-US" altLang="en-GB" sz="1600">
              <a:latin typeface="+mn-lt"/>
              <a:cs typeface="+mn-lt"/>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p:nvPr>
            <p:ph type="title"/>
          </p:nvPr>
        </p:nvSpPr>
        <p:spPr>
          <a:xfrm>
            <a:off x="304620" y="133637"/>
            <a:ext cx="5715635" cy="368935"/>
          </a:xfrm>
        </p:spPr>
        <p:txBody>
          <a:bodyPr/>
          <a:p>
            <a:r>
              <a:rPr lang="en-US" altLang="en-GB">
                <a:latin typeface="+mn-lt"/>
                <a:cs typeface="+mn-lt"/>
                <a:sym typeface="+mn-ea"/>
              </a:rPr>
              <a:t>Bigquery Clustring</a:t>
            </a:r>
            <a:endParaRPr lang="en-US" altLang="en-GB"/>
          </a:p>
        </p:txBody>
      </p:sp>
      <p:sp>
        <p:nvSpPr>
          <p:cNvPr id="3" name="Text Box 2"/>
          <p:cNvSpPr txBox="1"/>
          <p:nvPr/>
        </p:nvSpPr>
        <p:spPr>
          <a:xfrm>
            <a:off x="304800" y="590550"/>
            <a:ext cx="8549640" cy="3717290"/>
          </a:xfrm>
          <a:prstGeom prst="rect">
            <a:avLst/>
          </a:prstGeom>
        </p:spPr>
        <p:txBody>
          <a:bodyPr>
            <a:noAutofit/>
          </a:bodyPr>
          <a:p>
            <a:pPr>
              <a:lnSpc>
                <a:spcPct val="70000"/>
              </a:lnSpc>
            </a:pPr>
            <a:r>
              <a:rPr lang="en-US" altLang="en-GB" sz="1600" b="1">
                <a:latin typeface="+mn-lt"/>
                <a:cs typeface="+mn-lt"/>
              </a:rPr>
              <a:t>Clustering on multiple columns</a:t>
            </a:r>
            <a:endParaRPr lang="en-US" altLang="en-GB" sz="1600" b="1">
              <a:latin typeface="+mn-lt"/>
              <a:cs typeface="+mn-lt"/>
            </a:endParaRPr>
          </a:p>
          <a:p>
            <a:pPr>
              <a:lnSpc>
                <a:spcPct val="70000"/>
              </a:lnSpc>
            </a:pPr>
            <a:endParaRPr lang="en-US" altLang="en-GB" sz="1600">
              <a:latin typeface="+mn-lt"/>
              <a:cs typeface="+mn-lt"/>
            </a:endParaRPr>
          </a:p>
          <a:p>
            <a:pPr>
              <a:lnSpc>
                <a:spcPct val="70000"/>
              </a:lnSpc>
            </a:pPr>
            <a:r>
              <a:rPr lang="en-US" altLang="en-GB" sz="1600">
                <a:latin typeface="+mn-lt"/>
                <a:cs typeface="+mn-lt"/>
              </a:rPr>
              <a:t>You can cluster on up to 4 columns.</a:t>
            </a:r>
            <a:endParaRPr lang="en-US" altLang="en-GB" sz="1600">
              <a:latin typeface="+mn-lt"/>
              <a:cs typeface="+mn-lt"/>
            </a:endParaRPr>
          </a:p>
          <a:p>
            <a:pPr>
              <a:lnSpc>
                <a:spcPct val="70000"/>
              </a:lnSpc>
            </a:pPr>
            <a:endParaRPr lang="en-US" altLang="en-GB" sz="1600">
              <a:latin typeface="+mn-lt"/>
              <a:cs typeface="+mn-lt"/>
            </a:endParaRPr>
          </a:p>
          <a:p>
            <a:pPr>
              <a:lnSpc>
                <a:spcPct val="70000"/>
              </a:lnSpc>
            </a:pPr>
            <a:r>
              <a:rPr lang="en-US" altLang="en-GB" sz="1600">
                <a:latin typeface="+mn-lt"/>
                <a:cs typeface="+mn-lt"/>
              </a:rPr>
              <a:t>CREATE TABLE sales.orders</a:t>
            </a:r>
            <a:endParaRPr lang="en-US" altLang="en-GB" sz="1600">
              <a:latin typeface="+mn-lt"/>
              <a:cs typeface="+mn-lt"/>
            </a:endParaRPr>
          </a:p>
          <a:p>
            <a:pPr>
              <a:lnSpc>
                <a:spcPct val="70000"/>
              </a:lnSpc>
            </a:pPr>
            <a:r>
              <a:rPr lang="en-US" altLang="en-GB" sz="1600">
                <a:latin typeface="+mn-lt"/>
                <a:cs typeface="+mn-lt"/>
              </a:rPr>
              <a:t>(</a:t>
            </a:r>
            <a:endParaRPr lang="en-US" altLang="en-GB" sz="1600">
              <a:latin typeface="+mn-lt"/>
              <a:cs typeface="+mn-lt"/>
            </a:endParaRPr>
          </a:p>
          <a:p>
            <a:pPr>
              <a:lnSpc>
                <a:spcPct val="70000"/>
              </a:lnSpc>
            </a:pPr>
            <a:r>
              <a:rPr lang="en-US" altLang="en-GB" sz="1600">
                <a:latin typeface="+mn-lt"/>
                <a:cs typeface="+mn-lt"/>
              </a:rPr>
              <a:t>  order_id INT64,</a:t>
            </a:r>
            <a:endParaRPr lang="en-US" altLang="en-GB" sz="1600">
              <a:latin typeface="+mn-lt"/>
              <a:cs typeface="+mn-lt"/>
            </a:endParaRPr>
          </a:p>
          <a:p>
            <a:pPr>
              <a:lnSpc>
                <a:spcPct val="70000"/>
              </a:lnSpc>
            </a:pPr>
            <a:r>
              <a:rPr lang="en-US" altLang="en-GB" sz="1600">
                <a:latin typeface="+mn-lt"/>
                <a:cs typeface="+mn-lt"/>
              </a:rPr>
              <a:t>  customer_id INT64,</a:t>
            </a:r>
            <a:endParaRPr lang="en-US" altLang="en-GB" sz="1600">
              <a:latin typeface="+mn-lt"/>
              <a:cs typeface="+mn-lt"/>
            </a:endParaRPr>
          </a:p>
          <a:p>
            <a:pPr>
              <a:lnSpc>
                <a:spcPct val="70000"/>
              </a:lnSpc>
            </a:pPr>
            <a:r>
              <a:rPr lang="en-US" altLang="en-GB" sz="1600">
                <a:latin typeface="+mn-lt"/>
                <a:cs typeface="+mn-lt"/>
              </a:rPr>
              <a:t>  country STRING,</a:t>
            </a:r>
            <a:endParaRPr lang="en-US" altLang="en-GB" sz="1600">
              <a:latin typeface="+mn-lt"/>
              <a:cs typeface="+mn-lt"/>
            </a:endParaRPr>
          </a:p>
          <a:p>
            <a:pPr>
              <a:lnSpc>
                <a:spcPct val="70000"/>
              </a:lnSpc>
            </a:pPr>
            <a:r>
              <a:rPr lang="en-US" altLang="en-GB" sz="1600">
                <a:latin typeface="+mn-lt"/>
                <a:cs typeface="+mn-lt"/>
              </a:rPr>
              <a:t>  order_date DATE</a:t>
            </a:r>
            <a:endParaRPr lang="en-US" altLang="en-GB" sz="1600">
              <a:latin typeface="+mn-lt"/>
              <a:cs typeface="+mn-lt"/>
            </a:endParaRPr>
          </a:p>
          <a:p>
            <a:pPr>
              <a:lnSpc>
                <a:spcPct val="70000"/>
              </a:lnSpc>
            </a:pPr>
            <a:r>
              <a:rPr lang="en-US" altLang="en-GB" sz="1600">
                <a:latin typeface="+mn-lt"/>
                <a:cs typeface="+mn-lt"/>
              </a:rPr>
              <a:t>) </a:t>
            </a:r>
            <a:endParaRPr lang="en-US" altLang="en-GB" sz="1600">
              <a:latin typeface="+mn-lt"/>
              <a:cs typeface="+mn-lt"/>
            </a:endParaRPr>
          </a:p>
          <a:p>
            <a:pPr>
              <a:lnSpc>
                <a:spcPct val="70000"/>
              </a:lnSpc>
            </a:pPr>
            <a:r>
              <a:rPr lang="en-US" altLang="en-GB" sz="1600">
                <a:latin typeface="+mn-lt"/>
                <a:cs typeface="+mn-lt"/>
              </a:rPr>
              <a:t>CLUSTER BY country, customer_id;</a:t>
            </a:r>
            <a:endParaRPr lang="en-US" altLang="en-GB" sz="1600">
              <a:latin typeface="+mn-lt"/>
              <a:cs typeface="+mn-lt"/>
            </a:endParaRPr>
          </a:p>
          <a:p>
            <a:pPr>
              <a:lnSpc>
                <a:spcPct val="70000"/>
              </a:lnSpc>
            </a:pPr>
            <a:endParaRPr lang="en-US" altLang="en-GB" sz="1600">
              <a:latin typeface="+mn-lt"/>
              <a:cs typeface="+mn-lt"/>
            </a:endParaRPr>
          </a:p>
          <a:p>
            <a:pPr>
              <a:lnSpc>
                <a:spcPct val="70000"/>
              </a:lnSpc>
            </a:pPr>
            <a:r>
              <a:rPr lang="en-US" altLang="en-GB" sz="1600">
                <a:latin typeface="+mn-lt"/>
                <a:cs typeface="+mn-lt"/>
              </a:rPr>
              <a:t>Examples:</a:t>
            </a:r>
            <a:endParaRPr lang="en-US" altLang="en-GB" sz="1600">
              <a:latin typeface="+mn-lt"/>
              <a:cs typeface="+mn-lt"/>
            </a:endParaRPr>
          </a:p>
          <a:p>
            <a:r>
              <a:rPr lang="en-US" altLang="en-GB" sz="1600">
                <a:latin typeface="+mn-lt"/>
                <a:cs typeface="+mn-lt"/>
              </a:rPr>
              <a:t>-- Very efficient</a:t>
            </a:r>
            <a:endParaRPr lang="en-US" altLang="en-GB" sz="1600">
              <a:latin typeface="+mn-lt"/>
              <a:cs typeface="+mn-lt"/>
            </a:endParaRPr>
          </a:p>
          <a:p>
            <a:r>
              <a:rPr lang="en-US" altLang="en-GB" sz="1600">
                <a:latin typeface="+mn-lt"/>
                <a:cs typeface="+mn-lt"/>
              </a:rPr>
              <a:t>WHERE country = 'India'</a:t>
            </a:r>
            <a:endParaRPr lang="en-US" altLang="en-GB" sz="1600">
              <a:latin typeface="+mn-lt"/>
              <a:cs typeface="+mn-lt"/>
            </a:endParaRPr>
          </a:p>
          <a:p>
            <a:r>
              <a:rPr lang="en-US" altLang="en-GB" sz="1600">
                <a:latin typeface="+mn-lt"/>
                <a:cs typeface="+mn-lt"/>
              </a:rPr>
              <a:t>-- Also efficient</a:t>
            </a:r>
            <a:endParaRPr lang="en-US" altLang="en-GB" sz="1600">
              <a:latin typeface="+mn-lt"/>
              <a:cs typeface="+mn-lt"/>
            </a:endParaRPr>
          </a:p>
          <a:p>
            <a:r>
              <a:rPr lang="en-US" altLang="en-GB" sz="1600">
                <a:latin typeface="+mn-lt"/>
                <a:cs typeface="+mn-lt"/>
              </a:rPr>
              <a:t>WHERE country = 'India'</a:t>
            </a:r>
            <a:endParaRPr lang="en-US" altLang="en-GB" sz="1600">
              <a:latin typeface="+mn-lt"/>
              <a:cs typeface="+mn-lt"/>
            </a:endParaRPr>
          </a:p>
          <a:p>
            <a:r>
              <a:rPr lang="en-US" altLang="en-GB" sz="1600">
                <a:latin typeface="+mn-lt"/>
                <a:cs typeface="+mn-lt"/>
              </a:rPr>
              <a:t>  AND customer_id = 123</a:t>
            </a:r>
            <a:endParaRPr lang="en-US" altLang="en-GB" sz="1600">
              <a:latin typeface="+mn-lt"/>
              <a:cs typeface="+mn-lt"/>
            </a:endParaRPr>
          </a:p>
          <a:p>
            <a:endParaRPr lang="en-US" altLang="en-GB" sz="1600">
              <a:latin typeface="+mn-lt"/>
              <a:cs typeface="+mn-lt"/>
            </a:endParaRPr>
          </a:p>
          <a:p>
            <a:r>
              <a:rPr lang="en-US" altLang="en-GB" sz="1600">
                <a:latin typeface="+mn-lt"/>
                <a:cs typeface="+mn-lt"/>
              </a:rPr>
              <a:t>-- Less benefit</a:t>
            </a:r>
            <a:endParaRPr lang="en-US" altLang="en-GB" sz="1600">
              <a:latin typeface="+mn-lt"/>
              <a:cs typeface="+mn-lt"/>
            </a:endParaRPr>
          </a:p>
          <a:p>
            <a:r>
              <a:rPr lang="en-US" altLang="en-GB" sz="1600">
                <a:latin typeface="+mn-lt"/>
                <a:cs typeface="+mn-lt"/>
              </a:rPr>
              <a:t>WHERE customer_id = 123</a:t>
            </a:r>
            <a:endParaRPr lang="en-US" altLang="en-GB" sz="1600">
              <a:latin typeface="+mn-lt"/>
              <a:cs typeface="+mn-lt"/>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p:nvPr>
            <p:ph type="title"/>
          </p:nvPr>
        </p:nvSpPr>
        <p:spPr>
          <a:xfrm>
            <a:off x="304620" y="133637"/>
            <a:ext cx="5715635" cy="368935"/>
          </a:xfrm>
        </p:spPr>
        <p:txBody>
          <a:bodyPr/>
          <a:p>
            <a:r>
              <a:rPr lang="en-US" altLang="en-GB">
                <a:latin typeface="+mn-lt"/>
                <a:cs typeface="+mn-lt"/>
                <a:sym typeface="+mn-ea"/>
              </a:rPr>
              <a:t>Bigquery Clustring</a:t>
            </a:r>
            <a:endParaRPr lang="en-US" altLang="en-GB"/>
          </a:p>
        </p:txBody>
      </p:sp>
      <p:sp>
        <p:nvSpPr>
          <p:cNvPr id="3" name="Text Box 2"/>
          <p:cNvSpPr txBox="1"/>
          <p:nvPr/>
        </p:nvSpPr>
        <p:spPr>
          <a:xfrm>
            <a:off x="304800" y="590550"/>
            <a:ext cx="8549640" cy="3717290"/>
          </a:xfrm>
          <a:prstGeom prst="rect">
            <a:avLst/>
          </a:prstGeom>
        </p:spPr>
        <p:txBody>
          <a:bodyPr>
            <a:noAutofit/>
          </a:bodyPr>
          <a:p>
            <a:pPr>
              <a:lnSpc>
                <a:spcPct val="70000"/>
              </a:lnSpc>
            </a:pPr>
            <a:r>
              <a:rPr lang="en-US" altLang="en-GB" sz="1600">
                <a:latin typeface="+mn-lt"/>
                <a:cs typeface="+mn-lt"/>
              </a:rPr>
              <a:t>Clustering + Partitioning</a:t>
            </a:r>
            <a:endParaRPr lang="en-US" altLang="en-GB" sz="1600">
              <a:latin typeface="+mn-lt"/>
              <a:cs typeface="+mn-lt"/>
            </a:endParaRPr>
          </a:p>
          <a:p>
            <a:pPr>
              <a:lnSpc>
                <a:spcPct val="70000"/>
              </a:lnSpc>
            </a:pPr>
            <a:endParaRPr lang="en-US" altLang="en-GB" sz="1600">
              <a:latin typeface="+mn-lt"/>
              <a:cs typeface="+mn-lt"/>
            </a:endParaRPr>
          </a:p>
          <a:p>
            <a:pPr>
              <a:lnSpc>
                <a:spcPct val="70000"/>
              </a:lnSpc>
            </a:pPr>
            <a:r>
              <a:rPr lang="en-US" altLang="en-GB" sz="1600">
                <a:latin typeface="+mn-lt"/>
                <a:cs typeface="+mn-lt"/>
              </a:rPr>
              <a:t>These are often used together.</a:t>
            </a:r>
            <a:endParaRPr lang="en-US" altLang="en-GB" sz="1600">
              <a:latin typeface="+mn-lt"/>
              <a:cs typeface="+mn-lt"/>
            </a:endParaRPr>
          </a:p>
          <a:p>
            <a:pPr>
              <a:lnSpc>
                <a:spcPct val="70000"/>
              </a:lnSpc>
            </a:pPr>
            <a:endParaRPr lang="en-US" altLang="en-GB" sz="1600">
              <a:latin typeface="+mn-lt"/>
              <a:cs typeface="+mn-lt"/>
            </a:endParaRPr>
          </a:p>
          <a:p>
            <a:pPr>
              <a:lnSpc>
                <a:spcPct val="70000"/>
              </a:lnSpc>
            </a:pPr>
            <a:r>
              <a:rPr lang="en-US" altLang="en-GB" sz="1600">
                <a:latin typeface="+mn-lt"/>
                <a:cs typeface="+mn-lt"/>
              </a:rPr>
              <a:t>CREATE TABLE sales.orders</a:t>
            </a:r>
            <a:endParaRPr lang="en-US" altLang="en-GB" sz="1600">
              <a:latin typeface="+mn-lt"/>
              <a:cs typeface="+mn-lt"/>
            </a:endParaRPr>
          </a:p>
          <a:p>
            <a:pPr>
              <a:lnSpc>
                <a:spcPct val="70000"/>
              </a:lnSpc>
            </a:pPr>
            <a:r>
              <a:rPr lang="en-US" altLang="en-GB" sz="1600">
                <a:latin typeface="+mn-lt"/>
                <a:cs typeface="+mn-lt"/>
              </a:rPr>
              <a:t>(</a:t>
            </a:r>
            <a:endParaRPr lang="en-US" altLang="en-GB" sz="1600">
              <a:latin typeface="+mn-lt"/>
              <a:cs typeface="+mn-lt"/>
            </a:endParaRPr>
          </a:p>
          <a:p>
            <a:pPr>
              <a:lnSpc>
                <a:spcPct val="70000"/>
              </a:lnSpc>
            </a:pPr>
            <a:r>
              <a:rPr lang="en-US" altLang="en-GB" sz="1600">
                <a:latin typeface="+mn-lt"/>
                <a:cs typeface="+mn-lt"/>
              </a:rPr>
              <a:t>  order_id INT64,</a:t>
            </a:r>
            <a:endParaRPr lang="en-US" altLang="en-GB" sz="1600">
              <a:latin typeface="+mn-lt"/>
              <a:cs typeface="+mn-lt"/>
            </a:endParaRPr>
          </a:p>
          <a:p>
            <a:pPr>
              <a:lnSpc>
                <a:spcPct val="70000"/>
              </a:lnSpc>
            </a:pPr>
            <a:r>
              <a:rPr lang="en-US" altLang="en-GB" sz="1600">
                <a:latin typeface="+mn-lt"/>
                <a:cs typeface="+mn-lt"/>
              </a:rPr>
              <a:t>  customer_id INT64,</a:t>
            </a:r>
            <a:endParaRPr lang="en-US" altLang="en-GB" sz="1600">
              <a:latin typeface="+mn-lt"/>
              <a:cs typeface="+mn-lt"/>
            </a:endParaRPr>
          </a:p>
          <a:p>
            <a:pPr>
              <a:lnSpc>
                <a:spcPct val="70000"/>
              </a:lnSpc>
            </a:pPr>
            <a:r>
              <a:rPr lang="en-US" altLang="en-GB" sz="1600">
                <a:latin typeface="+mn-lt"/>
                <a:cs typeface="+mn-lt"/>
              </a:rPr>
              <a:t>  order_date DATE,</a:t>
            </a:r>
            <a:endParaRPr lang="en-US" altLang="en-GB" sz="1600">
              <a:latin typeface="+mn-lt"/>
              <a:cs typeface="+mn-lt"/>
            </a:endParaRPr>
          </a:p>
          <a:p>
            <a:pPr>
              <a:lnSpc>
                <a:spcPct val="70000"/>
              </a:lnSpc>
            </a:pPr>
            <a:r>
              <a:rPr lang="en-US" altLang="en-GB" sz="1600">
                <a:latin typeface="+mn-lt"/>
                <a:cs typeface="+mn-lt"/>
              </a:rPr>
              <a:t>  amount NUMERIC</a:t>
            </a:r>
            <a:endParaRPr lang="en-US" altLang="en-GB" sz="1600">
              <a:latin typeface="+mn-lt"/>
              <a:cs typeface="+mn-lt"/>
            </a:endParaRPr>
          </a:p>
          <a:p>
            <a:pPr>
              <a:lnSpc>
                <a:spcPct val="70000"/>
              </a:lnSpc>
            </a:pPr>
            <a:r>
              <a:rPr lang="en-US" altLang="en-GB" sz="1600">
                <a:latin typeface="+mn-lt"/>
                <a:cs typeface="+mn-lt"/>
              </a:rPr>
              <a:t>)</a:t>
            </a:r>
            <a:endParaRPr lang="en-US" altLang="en-GB" sz="1600">
              <a:latin typeface="+mn-lt"/>
              <a:cs typeface="+mn-lt"/>
            </a:endParaRPr>
          </a:p>
          <a:p>
            <a:pPr>
              <a:lnSpc>
                <a:spcPct val="70000"/>
              </a:lnSpc>
            </a:pPr>
            <a:r>
              <a:rPr lang="en-US" altLang="en-GB" sz="1600">
                <a:latin typeface="+mn-lt"/>
                <a:cs typeface="+mn-lt"/>
              </a:rPr>
              <a:t>PARTITION BY order_date</a:t>
            </a:r>
            <a:endParaRPr lang="en-US" altLang="en-GB" sz="1600">
              <a:latin typeface="+mn-lt"/>
              <a:cs typeface="+mn-lt"/>
            </a:endParaRPr>
          </a:p>
          <a:p>
            <a:pPr>
              <a:lnSpc>
                <a:spcPct val="70000"/>
              </a:lnSpc>
            </a:pPr>
            <a:r>
              <a:rPr lang="en-US" altLang="en-GB" sz="1600">
                <a:latin typeface="+mn-lt"/>
                <a:cs typeface="+mn-lt"/>
              </a:rPr>
              <a:t>CLUSTER BY customer_id;</a:t>
            </a:r>
            <a:endParaRPr lang="en-US" altLang="en-GB" sz="1600">
              <a:latin typeface="+mn-lt"/>
              <a:cs typeface="+mn-lt"/>
            </a:endParaRPr>
          </a:p>
          <a:p>
            <a:pPr>
              <a:lnSpc>
                <a:spcPct val="70000"/>
              </a:lnSpc>
            </a:pPr>
            <a:endParaRPr lang="en-US" altLang="en-GB" sz="1600">
              <a:latin typeface="+mn-lt"/>
              <a:cs typeface="+mn-lt"/>
            </a:endParaRPr>
          </a:p>
          <a:p>
            <a:pPr>
              <a:lnSpc>
                <a:spcPct val="70000"/>
              </a:lnSpc>
            </a:pPr>
            <a:r>
              <a:rPr lang="en-US" altLang="en-GB" sz="1600">
                <a:latin typeface="+mn-lt"/>
                <a:cs typeface="+mn-lt"/>
              </a:rPr>
              <a:t>Query flow</a:t>
            </a:r>
            <a:endParaRPr lang="en-US" altLang="en-GB" sz="1600">
              <a:latin typeface="+mn-lt"/>
              <a:cs typeface="+mn-lt"/>
            </a:endParaRPr>
          </a:p>
          <a:p>
            <a:pPr>
              <a:lnSpc>
                <a:spcPct val="70000"/>
              </a:lnSpc>
            </a:pPr>
            <a:endParaRPr lang="en-US" altLang="en-GB" sz="1600">
              <a:latin typeface="+mn-lt"/>
              <a:cs typeface="+mn-lt"/>
            </a:endParaRPr>
          </a:p>
          <a:p>
            <a:pPr>
              <a:lnSpc>
                <a:spcPct val="70000"/>
              </a:lnSpc>
            </a:pPr>
            <a:r>
              <a:rPr lang="en-US" altLang="en-GB" sz="1600">
                <a:latin typeface="+mn-lt"/>
                <a:cs typeface="+mn-lt"/>
              </a:rPr>
              <a:t>SELECT * FROM sales.orders</a:t>
            </a:r>
            <a:endParaRPr lang="en-US" altLang="en-GB" sz="1600">
              <a:latin typeface="+mn-lt"/>
              <a:cs typeface="+mn-lt"/>
            </a:endParaRPr>
          </a:p>
          <a:p>
            <a:pPr>
              <a:lnSpc>
                <a:spcPct val="70000"/>
              </a:lnSpc>
            </a:pPr>
            <a:r>
              <a:rPr lang="en-US" altLang="en-GB" sz="1600">
                <a:latin typeface="+mn-lt"/>
                <a:cs typeface="+mn-lt"/>
              </a:rPr>
              <a:t>WHERE order_date = '2026-06-01'</a:t>
            </a:r>
            <a:endParaRPr lang="en-US" altLang="en-GB" sz="1600">
              <a:latin typeface="+mn-lt"/>
              <a:cs typeface="+mn-lt"/>
            </a:endParaRPr>
          </a:p>
          <a:p>
            <a:pPr>
              <a:lnSpc>
                <a:spcPct val="70000"/>
              </a:lnSpc>
            </a:pPr>
            <a:r>
              <a:rPr lang="en-US" altLang="en-GB" sz="1600">
                <a:latin typeface="+mn-lt"/>
                <a:cs typeface="+mn-lt"/>
              </a:rPr>
              <a:t>  AND customer_id = 12345;</a:t>
            </a:r>
            <a:endParaRPr lang="en-US" altLang="en-GB" sz="1600">
              <a:latin typeface="+mn-lt"/>
              <a:cs typeface="+mn-lt"/>
            </a:endParaRPr>
          </a:p>
          <a:p>
            <a:pPr>
              <a:lnSpc>
                <a:spcPct val="70000"/>
              </a:lnSpc>
            </a:pPr>
            <a:endParaRPr lang="en-US" altLang="en-GB" sz="1600">
              <a:latin typeface="+mn-lt"/>
              <a:cs typeface="+mn-lt"/>
            </a:endParaRPr>
          </a:p>
          <a:p>
            <a:pPr>
              <a:lnSpc>
                <a:spcPct val="70000"/>
              </a:lnSpc>
            </a:pPr>
            <a:r>
              <a:rPr lang="en-US" altLang="en-GB" sz="1600">
                <a:latin typeface="+mn-lt"/>
                <a:cs typeface="+mn-lt"/>
              </a:rPr>
              <a:t>Partition pruning selects only the 2026-06-01 partition.</a:t>
            </a:r>
            <a:endParaRPr lang="en-US" altLang="en-GB" sz="1600">
              <a:latin typeface="+mn-lt"/>
              <a:cs typeface="+mn-lt"/>
            </a:endParaRPr>
          </a:p>
          <a:p>
            <a:pPr>
              <a:lnSpc>
                <a:spcPct val="70000"/>
              </a:lnSpc>
            </a:pPr>
            <a:r>
              <a:rPr lang="en-US" altLang="en-GB" sz="1600">
                <a:latin typeface="+mn-lt"/>
                <a:cs typeface="+mn-lt"/>
              </a:rPr>
              <a:t>Clustering skips irrelevant blocks within that partition.</a:t>
            </a:r>
            <a:endParaRPr lang="en-US" altLang="en-GB" sz="1600">
              <a:latin typeface="+mn-lt"/>
              <a:cs typeface="+mn-lt"/>
            </a:endParaRPr>
          </a:p>
          <a:p>
            <a:pPr>
              <a:lnSpc>
                <a:spcPct val="70000"/>
              </a:lnSpc>
            </a:pPr>
            <a:endParaRPr lang="en-US" altLang="en-GB" sz="1600">
              <a:latin typeface="+mn-lt"/>
              <a:cs typeface="+mn-lt"/>
            </a:endParaRPr>
          </a:p>
          <a:p>
            <a:pPr>
              <a:lnSpc>
                <a:spcPct val="70000"/>
              </a:lnSpc>
            </a:pPr>
            <a:r>
              <a:rPr lang="en-US" altLang="en-GB" sz="1600">
                <a:latin typeface="+mn-lt"/>
                <a:cs typeface="+mn-lt"/>
              </a:rPr>
              <a:t>This is usually the most efficient design for large tables.</a:t>
            </a:r>
            <a:endParaRPr lang="en-US" altLang="en-GB" sz="1600">
              <a:latin typeface="+mn-lt"/>
              <a:cs typeface="+mn-lt"/>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p:nvPr>
            <p:ph type="title"/>
          </p:nvPr>
        </p:nvSpPr>
        <p:spPr>
          <a:xfrm>
            <a:off x="304620" y="133637"/>
            <a:ext cx="5715635" cy="368935"/>
          </a:xfrm>
        </p:spPr>
        <p:txBody>
          <a:bodyPr/>
          <a:p>
            <a:r>
              <a:rPr lang="en-US" altLang="en-GB">
                <a:latin typeface="+mn-lt"/>
                <a:cs typeface="+mn-lt"/>
                <a:sym typeface="+mn-ea"/>
              </a:rPr>
              <a:t>Bigquery Clustring</a:t>
            </a:r>
            <a:endParaRPr lang="en-US" altLang="en-GB"/>
          </a:p>
        </p:txBody>
      </p:sp>
      <p:sp>
        <p:nvSpPr>
          <p:cNvPr id="3" name="Text Box 2"/>
          <p:cNvSpPr txBox="1"/>
          <p:nvPr/>
        </p:nvSpPr>
        <p:spPr>
          <a:xfrm>
            <a:off x="304800" y="590550"/>
            <a:ext cx="8549640" cy="3717290"/>
          </a:xfrm>
          <a:prstGeom prst="rect">
            <a:avLst/>
          </a:prstGeom>
        </p:spPr>
        <p:txBody>
          <a:bodyPr>
            <a:noAutofit/>
          </a:bodyPr>
          <a:p>
            <a:pPr>
              <a:lnSpc>
                <a:spcPct val="70000"/>
              </a:lnSpc>
            </a:pPr>
            <a:r>
              <a:rPr lang="en-US" altLang="en-GB" sz="1600">
                <a:latin typeface="+mn-lt"/>
                <a:cs typeface="+mn-lt"/>
              </a:rPr>
              <a:t>When to use clustering</a:t>
            </a:r>
            <a:endParaRPr lang="en-US" altLang="en-GB" sz="1600">
              <a:latin typeface="+mn-lt"/>
              <a:cs typeface="+mn-lt"/>
            </a:endParaRPr>
          </a:p>
          <a:p>
            <a:pPr>
              <a:lnSpc>
                <a:spcPct val="70000"/>
              </a:lnSpc>
            </a:pPr>
            <a:endParaRPr lang="en-US" altLang="en-GB" sz="1600">
              <a:latin typeface="+mn-lt"/>
              <a:cs typeface="+mn-lt"/>
            </a:endParaRPr>
          </a:p>
          <a:p>
            <a:pPr>
              <a:lnSpc>
                <a:spcPct val="70000"/>
              </a:lnSpc>
            </a:pPr>
            <a:r>
              <a:rPr lang="en-US" altLang="en-GB" sz="1600">
                <a:latin typeface="+mn-lt"/>
                <a:cs typeface="+mn-lt"/>
              </a:rPr>
              <a:t>Good clustering columns:</a:t>
            </a:r>
            <a:endParaRPr lang="en-US" altLang="en-GB" sz="1600">
              <a:latin typeface="+mn-lt"/>
              <a:cs typeface="+mn-lt"/>
            </a:endParaRPr>
          </a:p>
          <a:p>
            <a:pPr>
              <a:lnSpc>
                <a:spcPct val="70000"/>
              </a:lnSpc>
            </a:pPr>
            <a:endParaRPr lang="en-US" altLang="en-GB" sz="1600">
              <a:latin typeface="+mn-lt"/>
              <a:cs typeface="+mn-lt"/>
            </a:endParaRPr>
          </a:p>
          <a:p>
            <a:pPr marL="742950" lvl="1" indent="-285750">
              <a:lnSpc>
                <a:spcPct val="70000"/>
              </a:lnSpc>
              <a:buFont typeface="Arial" panose="020B0604020202020204" pitchFamily="34" charset="0"/>
              <a:buChar char="•"/>
            </a:pPr>
            <a:r>
              <a:rPr lang="en-US" altLang="en-GB" sz="1600">
                <a:latin typeface="+mn-lt"/>
                <a:cs typeface="+mn-lt"/>
              </a:rPr>
              <a:t>High-cardinality columns (many distinct values)</a:t>
            </a:r>
            <a:endParaRPr lang="en-US" altLang="en-GB" sz="1600">
              <a:latin typeface="+mn-lt"/>
              <a:cs typeface="+mn-lt"/>
            </a:endParaRPr>
          </a:p>
          <a:p>
            <a:pPr marL="742950" lvl="1" indent="-285750">
              <a:lnSpc>
                <a:spcPct val="70000"/>
              </a:lnSpc>
              <a:buFont typeface="Arial" panose="020B0604020202020204" pitchFamily="34" charset="0"/>
              <a:buChar char="•"/>
            </a:pPr>
            <a:r>
              <a:rPr lang="en-US" altLang="en-GB" sz="1600">
                <a:latin typeface="+mn-lt"/>
                <a:cs typeface="+mn-lt"/>
              </a:rPr>
              <a:t>Frequently used in filters or joins</a:t>
            </a:r>
            <a:endParaRPr lang="en-US" altLang="en-GB" sz="1600">
              <a:latin typeface="+mn-lt"/>
              <a:cs typeface="+mn-lt"/>
            </a:endParaRPr>
          </a:p>
          <a:p>
            <a:pPr>
              <a:lnSpc>
                <a:spcPct val="70000"/>
              </a:lnSpc>
            </a:pPr>
            <a:endParaRPr lang="en-US" altLang="en-GB" sz="1600">
              <a:latin typeface="+mn-lt"/>
              <a:cs typeface="+mn-lt"/>
            </a:endParaRPr>
          </a:p>
          <a:p>
            <a:pPr>
              <a:lnSpc>
                <a:spcPct val="70000"/>
              </a:lnSpc>
            </a:pPr>
            <a:r>
              <a:rPr lang="en-US" altLang="en-GB" sz="1600">
                <a:latin typeface="+mn-lt"/>
                <a:cs typeface="+mn-lt"/>
              </a:rPr>
              <a:t>Examples:</a:t>
            </a:r>
            <a:endParaRPr lang="en-US" altLang="en-GB" sz="1600">
              <a:latin typeface="+mn-lt"/>
              <a:cs typeface="+mn-lt"/>
            </a:endParaRPr>
          </a:p>
          <a:p>
            <a:pPr>
              <a:lnSpc>
                <a:spcPct val="70000"/>
              </a:lnSpc>
            </a:pPr>
            <a:endParaRPr lang="en-US" altLang="en-GB" sz="1600">
              <a:latin typeface="+mn-lt"/>
              <a:cs typeface="+mn-lt"/>
            </a:endParaRPr>
          </a:p>
          <a:p>
            <a:pPr marL="742950" lvl="2" indent="-285750">
              <a:lnSpc>
                <a:spcPct val="70000"/>
              </a:lnSpc>
              <a:buFont typeface="Arial" panose="020B0604020202020204" pitchFamily="34" charset="0"/>
              <a:buChar char="•"/>
            </a:pPr>
            <a:r>
              <a:rPr lang="en-US" altLang="en-GB" sz="1600">
                <a:latin typeface="+mn-lt"/>
                <a:cs typeface="+mn-lt"/>
              </a:rPr>
              <a:t>customer_id</a:t>
            </a:r>
            <a:endParaRPr lang="en-US" altLang="en-GB" sz="1600">
              <a:latin typeface="+mn-lt"/>
              <a:cs typeface="+mn-lt"/>
            </a:endParaRPr>
          </a:p>
          <a:p>
            <a:pPr marL="742950" lvl="2" indent="-285750">
              <a:lnSpc>
                <a:spcPct val="70000"/>
              </a:lnSpc>
              <a:buFont typeface="Arial" panose="020B0604020202020204" pitchFamily="34" charset="0"/>
              <a:buChar char="•"/>
            </a:pPr>
            <a:r>
              <a:rPr lang="en-US" altLang="en-GB" sz="1600">
                <a:latin typeface="+mn-lt"/>
                <a:cs typeface="+mn-lt"/>
              </a:rPr>
              <a:t>user_id</a:t>
            </a:r>
            <a:endParaRPr lang="en-US" altLang="en-GB" sz="1600">
              <a:latin typeface="+mn-lt"/>
              <a:cs typeface="+mn-lt"/>
            </a:endParaRPr>
          </a:p>
          <a:p>
            <a:pPr marL="742950" lvl="2" indent="-285750">
              <a:lnSpc>
                <a:spcPct val="70000"/>
              </a:lnSpc>
              <a:buFont typeface="Arial" panose="020B0604020202020204" pitchFamily="34" charset="0"/>
              <a:buChar char="•"/>
            </a:pPr>
            <a:r>
              <a:rPr lang="en-US" altLang="en-GB" sz="1600">
                <a:latin typeface="+mn-lt"/>
                <a:cs typeface="+mn-lt"/>
              </a:rPr>
              <a:t>product_id</a:t>
            </a:r>
            <a:endParaRPr lang="en-US" altLang="en-GB" sz="1600">
              <a:latin typeface="+mn-lt"/>
              <a:cs typeface="+mn-lt"/>
            </a:endParaRPr>
          </a:p>
          <a:p>
            <a:pPr marL="742950" lvl="2" indent="-285750">
              <a:lnSpc>
                <a:spcPct val="70000"/>
              </a:lnSpc>
              <a:buFont typeface="Arial" panose="020B0604020202020204" pitchFamily="34" charset="0"/>
              <a:buChar char="•"/>
            </a:pPr>
            <a:r>
              <a:rPr lang="en-US" altLang="en-GB" sz="1600">
                <a:latin typeface="+mn-lt"/>
                <a:cs typeface="+mn-lt"/>
              </a:rPr>
              <a:t>email</a:t>
            </a:r>
            <a:endParaRPr lang="en-US" altLang="en-GB" sz="1600">
              <a:latin typeface="+mn-lt"/>
              <a:cs typeface="+mn-lt"/>
            </a:endParaRPr>
          </a:p>
          <a:p>
            <a:pPr marL="742950" lvl="2" indent="-285750">
              <a:lnSpc>
                <a:spcPct val="70000"/>
              </a:lnSpc>
              <a:buFont typeface="Arial" panose="020B0604020202020204" pitchFamily="34" charset="0"/>
              <a:buChar char="•"/>
            </a:pPr>
            <a:r>
              <a:rPr lang="en-US" altLang="en-GB" sz="1600">
                <a:latin typeface="+mn-lt"/>
                <a:cs typeface="+mn-lt"/>
              </a:rPr>
              <a:t>country</a:t>
            </a:r>
            <a:endParaRPr lang="en-US" altLang="en-GB" sz="1600">
              <a:latin typeface="+mn-lt"/>
              <a:cs typeface="+mn-lt"/>
            </a:endParaRPr>
          </a:p>
          <a:p>
            <a:pPr marL="742950" lvl="2" indent="-285750">
              <a:lnSpc>
                <a:spcPct val="70000"/>
              </a:lnSpc>
              <a:buFont typeface="Arial" panose="020B0604020202020204" pitchFamily="34" charset="0"/>
              <a:buChar char="•"/>
            </a:pPr>
            <a:r>
              <a:rPr lang="en-US" altLang="en-GB" sz="1600">
                <a:latin typeface="+mn-lt"/>
                <a:cs typeface="+mn-lt"/>
              </a:rPr>
              <a:t>region</a:t>
            </a:r>
            <a:endParaRPr lang="en-US" altLang="en-GB" sz="1600">
              <a:latin typeface="+mn-lt"/>
              <a:cs typeface="+mn-lt"/>
            </a:endParaRPr>
          </a:p>
          <a:p>
            <a:pPr>
              <a:lnSpc>
                <a:spcPct val="70000"/>
              </a:lnSpc>
            </a:pPr>
            <a:endParaRPr lang="en-US" altLang="en-GB" sz="1600">
              <a:latin typeface="+mn-lt"/>
              <a:cs typeface="+mn-lt"/>
            </a:endParaRPr>
          </a:p>
          <a:p>
            <a:pPr>
              <a:lnSpc>
                <a:spcPct val="70000"/>
              </a:lnSpc>
            </a:pPr>
            <a:r>
              <a:rPr lang="en-US" altLang="en-GB" sz="1600">
                <a:latin typeface="+mn-lt"/>
                <a:cs typeface="+mn-lt"/>
              </a:rPr>
              <a:t>Less useful:</a:t>
            </a:r>
            <a:endParaRPr lang="en-US" altLang="en-GB" sz="1600">
              <a:latin typeface="+mn-lt"/>
              <a:cs typeface="+mn-lt"/>
            </a:endParaRPr>
          </a:p>
          <a:p>
            <a:pPr>
              <a:lnSpc>
                <a:spcPct val="70000"/>
              </a:lnSpc>
            </a:pPr>
            <a:endParaRPr lang="en-US" altLang="en-GB" sz="1600">
              <a:latin typeface="+mn-lt"/>
              <a:cs typeface="+mn-lt"/>
            </a:endParaRPr>
          </a:p>
          <a:p>
            <a:pPr marL="742950" lvl="2" indent="-285750">
              <a:lnSpc>
                <a:spcPct val="70000"/>
              </a:lnSpc>
              <a:buFont typeface="Arial" panose="020B0604020202020204" pitchFamily="34" charset="0"/>
              <a:buChar char="•"/>
            </a:pPr>
            <a:r>
              <a:rPr lang="en-US" altLang="en-GB" sz="1600">
                <a:latin typeface="+mn-lt"/>
                <a:cs typeface="+mn-lt"/>
              </a:rPr>
              <a:t>Columns rarely used in queries</a:t>
            </a:r>
            <a:endParaRPr lang="en-US" altLang="en-GB" sz="1600">
              <a:latin typeface="+mn-lt"/>
              <a:cs typeface="+mn-lt"/>
            </a:endParaRPr>
          </a:p>
          <a:p>
            <a:pPr marL="742950" lvl="2" indent="-285750">
              <a:lnSpc>
                <a:spcPct val="70000"/>
              </a:lnSpc>
              <a:buFont typeface="Arial" panose="020B0604020202020204" pitchFamily="34" charset="0"/>
              <a:buChar char="•"/>
            </a:pPr>
            <a:r>
              <a:rPr lang="en-US" altLang="en-GB" sz="1600">
                <a:latin typeface="+mn-lt"/>
                <a:cs typeface="+mn-lt"/>
              </a:rPr>
              <a:t>Very low-cardinality columns (e.g., gender with only a few values)</a:t>
            </a:r>
            <a:endParaRPr lang="en-US" altLang="en-GB" sz="1600">
              <a:latin typeface="+mn-lt"/>
              <a:cs typeface="+mn-lt"/>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68093" y="2233930"/>
            <a:ext cx="2608580" cy="635000"/>
          </a:xfrm>
          <a:prstGeom prst="rect">
            <a:avLst/>
          </a:prstGeom>
        </p:spPr>
        <p:txBody>
          <a:bodyPr vert="horz" wrap="square" lIns="0" tIns="12700" rIns="0" bIns="0" rtlCol="0">
            <a:spAutoFit/>
          </a:bodyPr>
          <a:lstStyle/>
          <a:p>
            <a:pPr marL="12700">
              <a:lnSpc>
                <a:spcPct val="100000"/>
              </a:lnSpc>
              <a:spcBef>
                <a:spcPts val="100"/>
              </a:spcBef>
            </a:pPr>
            <a:r>
              <a:rPr sz="4000" b="0" spc="275" dirty="0">
                <a:solidFill>
                  <a:srgbClr val="FFFFFF"/>
                </a:solidFill>
                <a:latin typeface="Calibri" panose="020F0502020204030204"/>
                <a:cs typeface="Calibri" panose="020F0502020204030204"/>
              </a:rPr>
              <a:t>Thank</a:t>
            </a:r>
            <a:r>
              <a:rPr sz="4000" b="0" spc="180" dirty="0">
                <a:solidFill>
                  <a:srgbClr val="FFFFFF"/>
                </a:solidFill>
                <a:latin typeface="Calibri" panose="020F0502020204030204"/>
                <a:cs typeface="Calibri" panose="020F0502020204030204"/>
              </a:rPr>
              <a:t> </a:t>
            </a:r>
            <a:r>
              <a:rPr sz="4000" b="0" spc="85" dirty="0">
                <a:solidFill>
                  <a:srgbClr val="FFFFFF"/>
                </a:solidFill>
                <a:latin typeface="Calibri" panose="020F0502020204030204"/>
                <a:cs typeface="Calibri" panose="020F0502020204030204"/>
              </a:rPr>
              <a:t>You!</a:t>
            </a:r>
            <a:endParaRPr sz="4000">
              <a:latin typeface="Calibri" panose="020F0502020204030204"/>
              <a:cs typeface="Calibri" panose="020F0502020204030204"/>
            </a:endParaRPr>
          </a:p>
        </p:txBody>
      </p:sp>
      <p:pic>
        <p:nvPicPr>
          <p:cNvPr id="3" name="object 3"/>
          <p:cNvPicPr/>
          <p:nvPr/>
        </p:nvPicPr>
        <p:blipFill>
          <a:blip r:embed="rId1" cstate="print"/>
          <a:stretch>
            <a:fillRect/>
          </a:stretch>
        </p:blipFill>
        <p:spPr>
          <a:xfrm>
            <a:off x="0" y="0"/>
            <a:ext cx="2133336" cy="5137782"/>
          </a:xfrm>
          <a:prstGeom prst="rect">
            <a:avLst/>
          </a:prstGeom>
        </p:spPr>
      </p:pic>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TABLE_ENDDRAG_ORIGIN_RECT" val="642*191"/>
  <p:tag name="TABLE_ENDDRAG_RECT" val="27*57*642*19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7547</Words>
  <Application>WPS Presentation</Application>
  <PresentationFormat>On-screen Show (16:9)</PresentationFormat>
  <Paragraphs>436</Paragraphs>
  <Slides>26</Slides>
  <Notes>73</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26</vt:i4>
      </vt:variant>
    </vt:vector>
  </HeadingPairs>
  <TitlesOfParts>
    <vt:vector size="35" baseType="lpstr">
      <vt:lpstr>Arial</vt:lpstr>
      <vt:lpstr>SimSun</vt:lpstr>
      <vt:lpstr>Wingdings</vt:lpstr>
      <vt:lpstr>Calibri</vt:lpstr>
      <vt:lpstr>Microsoft YaHei</vt:lpstr>
      <vt:lpstr>Arial Unicode MS</vt:lpstr>
      <vt:lpstr>Calibri</vt:lpstr>
      <vt:lpstr>Arial</vt:lpstr>
      <vt:lpstr>Office Theme</vt:lpstr>
      <vt:lpstr>PowerPoint 演示文稿</vt:lpstr>
      <vt:lpstr>Agenda</vt:lpstr>
      <vt:lpstr>What is BigQuery</vt:lpstr>
      <vt:lpstr>Data Organization in BigQuery</vt:lpstr>
      <vt:lpstr>Advantages of BigQuery</vt:lpstr>
      <vt:lpstr>Limitations of BigQuery</vt:lpstr>
      <vt:lpstr>Types of table </vt:lpstr>
      <vt:lpstr>Types of table</vt:lpstr>
      <vt:lpstr>Types of table</vt:lpstr>
      <vt:lpstr>Types of table</vt:lpstr>
      <vt:lpstr>Types of table</vt:lpstr>
      <vt:lpstr>Types of table</vt:lpstr>
      <vt:lpstr>Types of table</vt:lpstr>
      <vt:lpstr>Types of table</vt:lpstr>
      <vt:lpstr>Types of table</vt:lpstr>
      <vt:lpstr>Types of table</vt:lpstr>
      <vt:lpstr>Table Partition</vt:lpstr>
      <vt:lpstr>Table Partition</vt:lpstr>
      <vt:lpstr>Types of partitioning in BigQuery</vt:lpstr>
      <vt:lpstr>Types of partitioning in BigQuery</vt:lpstr>
      <vt:lpstr>Types of partitioning in BigQuery</vt:lpstr>
      <vt:lpstr>Bigquery Clustring</vt:lpstr>
      <vt:lpstr>Bigquery Clustring</vt:lpstr>
      <vt:lpstr>Bigquery Clustring</vt:lpstr>
      <vt:lpstr>Bigquery Clustring</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GUVI proposal for CHUBB</dc:title>
  <dc:creator>udhay</dc:creator>
  <cp:lastModifiedBy>Admin</cp:lastModifiedBy>
  <cp:revision>71</cp:revision>
  <dcterms:created xsi:type="dcterms:W3CDTF">2025-06-18T10:57:00Z</dcterms:created>
  <dcterms:modified xsi:type="dcterms:W3CDTF">2026-06-11T08:47:17Z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2025-06-19T03:30:00Z</vt:filetime>
  </property>
  <property fmtid="{D5CDD505-2E9C-101B-9397-08002B2CF9AE}" pid="3" name="Creator">
    <vt:lpwstr>Google</vt:lpwstr>
  </property>
  <property fmtid="{D5CDD505-2E9C-101B-9397-08002B2CF9AE}" pid="4" name="LastSaved">
    <vt:filetime>2025-06-19T03:30:00Z</vt:filetime>
  </property>
  <property fmtid="{D5CDD505-2E9C-101B-9397-08002B2CF9AE}" pid="5" name="ICV">
    <vt:lpwstr>69D827A913E8448E85324E0B9EBA6B12_13</vt:lpwstr>
  </property>
  <property fmtid="{D5CDD505-2E9C-101B-9397-08002B2CF9AE}" pid="6" name="KSOProductBuildVer">
    <vt:lpwstr>2057-12.2.0.23202</vt:lpwstr>
  </property>
</Properties>
</file>