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62" r:id="rId4"/>
    <p:sldId id="524" r:id="rId5"/>
    <p:sldId id="523" r:id="rId7"/>
    <p:sldId id="525" r:id="rId8"/>
    <p:sldId id="526" r:id="rId9"/>
    <p:sldId id="527" r:id="rId10"/>
    <p:sldId id="528" r:id="rId11"/>
    <p:sldId id="529" r:id="rId12"/>
    <p:sldId id="530" r:id="rId13"/>
    <p:sldId id="531" r:id="rId14"/>
    <p:sldId id="532" r:id="rId15"/>
    <p:sldId id="533" r:id="rId16"/>
    <p:sldId id="534" r:id="rId17"/>
    <p:sldId id="535" r:id="rId18"/>
    <p:sldId id="536" r:id="rId19"/>
    <p:sldId id="537" r:id="rId20"/>
    <p:sldId id="538" r:id="rId21"/>
    <p:sldId id="539" r:id="rId22"/>
    <p:sldId id="540" r:id="rId23"/>
    <p:sldId id="541" r:id="rId24"/>
    <p:sldId id="542" r:id="rId25"/>
    <p:sldId id="543" r:id="rId26"/>
    <p:sldId id="544" r:id="rId27"/>
    <p:sldId id="545" r:id="rId28"/>
    <p:sldId id="546" r:id="rId29"/>
    <p:sldId id="547" r:id="rId30"/>
    <p:sldId id="548" r:id="rId31"/>
    <p:sldId id="549" r:id="rId32"/>
    <p:sldId id="550" r:id="rId33"/>
    <p:sldId id="551" r:id="rId34"/>
    <p:sldId id="552" r:id="rId35"/>
    <p:sldId id="553" r:id="rId36"/>
    <p:sldId id="554" r:id="rId37"/>
    <p:sldId id="555" r:id="rId38"/>
    <p:sldId id="556" r:id="rId39"/>
    <p:sldId id="558" r:id="rId40"/>
    <p:sldId id="557" r:id="rId41"/>
    <p:sldId id="559" r:id="rId42"/>
    <p:sldId id="560" r:id="rId43"/>
    <p:sldId id="561" r:id="rId44"/>
    <p:sldId id="562" r:id="rId45"/>
    <p:sldId id="563" r:id="rId46"/>
    <p:sldId id="564" r:id="rId47"/>
    <p:sldId id="565" r:id="rId48"/>
    <p:sldId id="566" r:id="rId49"/>
    <p:sldId id="567" r:id="rId50"/>
    <p:sldId id="568" r:id="rId51"/>
    <p:sldId id="569" r:id="rId52"/>
    <p:sldId id="570" r:id="rId53"/>
    <p:sldId id="571" r:id="rId54"/>
    <p:sldId id="572" r:id="rId55"/>
    <p:sldId id="573" r:id="rId56"/>
    <p:sldId id="574" r:id="rId57"/>
    <p:sldId id="575" r:id="rId58"/>
    <p:sldId id="576" r:id="rId59"/>
    <p:sldId id="577" r:id="rId60"/>
    <p:sldId id="578" r:id="rId61"/>
    <p:sldId id="579" r:id="rId62"/>
    <p:sldId id="580" r:id="rId63"/>
    <p:sldId id="261" r:id="rId6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6" userDrawn="1">
          <p15:clr>
            <a:srgbClr val="A4A3A4"/>
          </p15:clr>
        </p15:guide>
        <p15:guide id="2" pos="21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-676" y="-68"/>
      </p:cViewPr>
      <p:guideLst>
        <p:guide orient="horz" pos="2886"/>
        <p:guide pos="212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7DE22-9E91-4192-903F-3C4AE46FA73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C5A8-19BE-4F99-84F1-2DBB255A6B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GB"/>
              <a:t>Cloud computing means you don’t buy physical servers.</a:t>
            </a:r>
            <a:endParaRPr lang="en-US" altLang="en-GB"/>
          </a:p>
          <a:p>
            <a:r>
              <a:rPr lang="en-US" altLang="en-GB"/>
              <a:t>You “consume” compute/storage like a utility.</a:t>
            </a:r>
            <a:endParaRPr lang="en-US" altLang="en-GB"/>
          </a:p>
          <a:p>
            <a:r>
              <a:rPr lang="en-US" altLang="en-GB"/>
              <a:t>You can create a server in a few clicks, use it, and delete it.</a:t>
            </a:r>
            <a:endParaRPr lang="en-US" alt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On-premise needs procurement, rack/stack, power, cooling, maintenance.</a:t>
            </a:r>
            <a:endParaRPr lang="en-US" altLang="en-GB" b="1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Cloud shifts responsibility of hardware to the provider.</a:t>
            </a:r>
            <a:endParaRPr lang="en-US" alt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/>
              <a:t>Virtualization was the big foundation: it made servers “software-defined”.</a:t>
            </a:r>
            <a:endParaRPr lang="en-US" altLang="en-GB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/>
              <a:t>Cloud added on-demand provisioning + billing + global infrastructure.</a:t>
            </a:r>
            <a:endParaRPr lang="en-US" alt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Disaster could be fire, flood, hardware failure, ransomware.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Cloud can replicate data cross-region.</a:t>
            </a:r>
            <a:endParaRPr lang="en-US" altLang="en-GB" b="1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If your users are global, host in multiple regions or use CDN.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If your users are global, host in multiple regions or use CDN.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Netflix moved away from data centers to handle huge demand and global users.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Uses auto scaling + global infrastructure + CDNs.</a:t>
            </a:r>
            <a:endParaRPr lang="en-US" alt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Retail downtime means direct revenue loss.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Cloud supports multi-AZ architecture and DR.</a:t>
            </a:r>
            <a:endParaRPr lang="en-US" alt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Provider secures the cloud (data center, hardware).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Customer secures what they put in the cloud (users, permissions, data).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Cloud reduces risk, but doesn’t remove it.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Architecture matters.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endParaRPr lang="en-US" altLang="en-GB"/>
          </a:p>
          <a:p>
            <a:pPr lvl="1" indent="0">
              <a:spcBef>
                <a:spcPts val="600"/>
              </a:spcBef>
              <a:buNone/>
            </a:pPr>
            <a:r>
              <a:rPr lang="en-US" altLang="en-GB"/>
              <a:t>“Cloud is cheap” only if managed properly.</a:t>
            </a:r>
            <a:endParaRPr lang="en-US" altLang="en-GB"/>
          </a:p>
          <a:p>
            <a:pPr lvl="1" indent="0">
              <a:spcBef>
                <a:spcPts val="600"/>
              </a:spcBef>
              <a:buNone/>
            </a:pPr>
            <a:r>
              <a:rPr lang="en-US" altLang="en-GB"/>
              <a:t>Cost optimization is a skill companies value.</a:t>
            </a:r>
            <a:endParaRPr lang="en-US" alt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Companies build “guardrails”: policies, automation, continuous monitoring.</a:t>
            </a:r>
            <a:endParaRPr lang="en-US" alt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Companies build “guardrails”: policies, automation, continuous monitoring.</a:t>
            </a:r>
            <a:endParaRPr lang="en-US" alt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Companies build “guardrails”: policies, automation, continuous monitoring.</a:t>
            </a:r>
            <a:endParaRPr lang="en-US" alt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0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Used where strict compliance or legacy constraints exist.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Many enterprises are hybrid due to legacy systems.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Multi-cloud is not “always better”; it needs strong skills.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0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Fresher tip: don’t recommend multi-cloud blindly. Mention trade-off.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You get maximum flexibility but more responsibility.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Similar to renting an empty house: you bring furniture and maintain inside.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0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Like renting a furnished apartment: you just live and use it.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Great for teams that don’t want server management.</a:t>
            </a:r>
            <a:endParaRPr lang="en-US" altLang="en-GB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/>
              <a:t>Managed databases are a big part of PaaS in real jobs.</a:t>
            </a:r>
            <a:endParaRPr lang="en-US" altLang="en-GB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Like using a taxi: you don’t maintain the car.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Like using a taxi: you don’t maintain the car.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Cloud pricing is usage-based and service-specific.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Always monitor data egress and idle resources.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Great for learning and early-stage startups.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Not good for critical always-on workloads unless designed for interruption.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If you know you need a server 24/7, reserve it.</a:t>
            </a:r>
            <a:endParaRPr lang="en-US" altLang="en-GB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Think Microsoft 365, Jira, Salesforce.</a:t>
            </a:r>
            <a:endParaRPr lang="en-US" altLang="en-GB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Cost optimization is continuous, not one-time.</a:t>
            </a:r>
            <a:endParaRPr lang="en-US" altLang="en-GB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Cost optimization is continuous, not one-time.</a:t>
            </a:r>
            <a:endParaRPr lang="en-US" altLang="en-GB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AZs are isolated to reduce failure impact.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>
                <a:sym typeface="+mn-ea"/>
              </a:rPr>
              <a:t>“Multi-AZ” is a standard design approach.</a:t>
            </a:r>
            <a:endParaRPr lang="en-US" altLang="en-GB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EC2 is IaaS: you manage OS and software.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Security group acts like a virtual firewall.</a:t>
            </a:r>
            <a:endParaRPr lang="en-US" altLang="en-GB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Object storage is different from disk storage.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Great for storing unlimited files.</a:t>
            </a:r>
            <a:endParaRPr lang="en-US" altLang="en-GB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RDS reduces database admin work but you still design schema and queries.</a:t>
            </a:r>
            <a:endParaRPr lang="en-US" altLang="en-GB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Serverless = no server management; servers still exist but provider handles them.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Great for small APIs, automation, file processing.</a:t>
            </a:r>
            <a:endParaRPr lang="en-US" altLang="en-GB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Most real production setups start with good VPC design.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Many companies choose Azure because they already use Microsoft tools.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Same IaaS concept, different names.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Similar concept to S3.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Great for apps that need SQL Server without managing VMs.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Equivalent idea to AWS Lambda.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Equivalent idea to AWS Lambda.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GCP is often chosen for analytics and modern data platforms.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Equivalent of EC2 and Azure VM.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Equivalent of S3 and Blob Storage.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BigQuery is a major differentiator for GCP.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Great for analytics without managing infrastructure.</a:t>
            </a:r>
            <a:endParaRPr lang="en-US" altLang="en-GB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Similar to Lambda and Azure Functions.</a:t>
            </a:r>
            <a:endParaRPr lang="en-US" altLang="en-GB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>
                <a:sym typeface="+mn-ea"/>
              </a:rPr>
              <a:t>Similar to Lambda and Azure Functions.</a:t>
            </a:r>
            <a:endParaRPr lang="en-US" alt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00" y="322232"/>
            <a:ext cx="5715635" cy="44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E3BA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687" y="1053737"/>
            <a:ext cx="8305800" cy="3527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90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E3BA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057400" y="1047750"/>
            <a:ext cx="2133336" cy="51377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2475" y="1880841"/>
            <a:ext cx="5709920" cy="71564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US" altLang="en-IN" sz="3700" b="1" spc="220" dirty="0" smtClean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Cloud Fundamentals	</a:t>
            </a:r>
            <a:endParaRPr lang="en-US" altLang="en-IN" sz="3700" b="1" spc="220" dirty="0" smtClean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305800" cy="381635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 smtClean="0"/>
              <a:t>Introduction to Cloud</a:t>
            </a:r>
            <a:endParaRPr lang="en-US" altLang="en-GB" b="1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 smtClean="0"/>
              <a:t>Advantages of Cloud</a:t>
            </a:r>
            <a:endParaRPr lang="en-US" altLang="en-GB" b="1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 smtClean="0"/>
              <a:t>Challenges of Cloud</a:t>
            </a:r>
            <a:endParaRPr lang="en-US" altLang="en-GB" b="1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 smtClean="0"/>
              <a:t>Cloud deployment models</a:t>
            </a:r>
            <a:endParaRPr lang="en-US" altLang="en-GB" b="1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 smtClean="0"/>
              <a:t>Cloud service models</a:t>
            </a:r>
            <a:endParaRPr lang="en-US" altLang="en-GB" b="1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 smtClean="0"/>
              <a:t>Pricing models</a:t>
            </a:r>
            <a:endParaRPr lang="en-US" altLang="en-GB" b="1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 smtClean="0"/>
              <a:t>AWS basics</a:t>
            </a:r>
            <a:endParaRPr lang="en-US" altLang="en-GB" b="1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 smtClean="0"/>
              <a:t>Azure basics</a:t>
            </a:r>
            <a:endParaRPr lang="en-US" altLang="en-GB" b="1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 smtClean="0"/>
              <a:t>GCP basics</a:t>
            </a:r>
            <a:endParaRPr lang="en-US" altLang="en-GB" b="1" dirty="0" smtClean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 smtClean="0"/>
              <a:t>AWS vs Azure vs GCP + what to choose</a:t>
            </a:r>
            <a:endParaRPr lang="en-US" altLang="en-GB" b="1" dirty="0" smtClean="0"/>
          </a:p>
          <a:p>
            <a:pPr>
              <a:spcBef>
                <a:spcPts val="600"/>
              </a:spcBef>
            </a:pPr>
            <a:endParaRPr lang="en-US" b="1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74825" y="116833"/>
            <a:ext cx="1492973" cy="309799"/>
          </a:xfrm>
          <a:prstGeom prst="rect">
            <a:avLst/>
          </a:prstGeom>
        </p:spPr>
      </p:pic>
      <p:sp>
        <p:nvSpPr>
          <p:cNvPr id="5" name="Title 4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/>
              <a:t>Agenda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95665" cy="2677160"/>
          </a:xfrm>
        </p:spPr>
        <p:txBody>
          <a:bodyPr wrap="square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Cloud = renting IT resources over the internet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Resources: servers, storage, databases, networking, software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You pay only for what you use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Available quickly (minutes)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You create a virtual machine on AWS (EC2) for 2 hours to test your code, then shut it down.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/>
              <a:t>What is Cloud Computing?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3739515"/>
          </a:xfrm>
        </p:spPr>
        <p:txBody>
          <a:bodyPr wrap="square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Traditional: buy hardware + install in your office (data center)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Cloud: rent from providers (AWS/Azure/GCP)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Traditional: slow to scale (weeks/months)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Cloud: fast to scale (minutes)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Traditional: high upfront cost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Cloud: operational cost (pay monthly/usage)</a:t>
            </a:r>
            <a:endParaRPr lang="en-US" altLang="en-GB" b="1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>
              <a:sym typeface="+mn-ea"/>
            </a:endParaRPr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>
                <a:sym typeface="+mn-ea"/>
              </a:rPr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 college ERP system hosted on a local server crashes during admissions due to high load.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In cloud, you can scale up temporarily for the admission week.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/>
              <a:t>On-Premise vs Cloud (Basic Difference)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754630"/>
          </a:xfrm>
        </p:spPr>
        <p:txBody>
          <a:bodyPr wrap="square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1990s: Physical servers (one app per server)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2000s: Virtualization (many VMs on one server)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2010s: Cloud platforms (AWS/Azure/GCP)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Now: Containers + Serverless + Managed services</a:t>
            </a:r>
            <a:endParaRPr lang="en-US" altLang="en-GB" b="1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Earlier: company buys 10 servers “just in case”.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Now: company scales from 2 to 200 servers during a festival sale.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/>
              <a:t>Evolution of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400300"/>
          </a:xfrm>
        </p:spPr>
        <p:txBody>
          <a:bodyPr wrap="square"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Cloud = rent IT resources via internet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Cloud is fast, flexible, pay-as-you-go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On-prem = buy + maintain everything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Evolution: physical </a:t>
            </a:r>
            <a:r>
              <a:rPr lang="en-US" altLang="en-US" b="1" dirty="0"/>
              <a:t>→</a:t>
            </a:r>
            <a:r>
              <a:rPr lang="en-US" altLang="en-GB" b="1" dirty="0"/>
              <a:t> virtual </a:t>
            </a:r>
            <a:r>
              <a:rPr lang="en-US" altLang="en-US" b="1" dirty="0"/>
              <a:t>→</a:t>
            </a:r>
            <a:r>
              <a:rPr lang="en-US" altLang="en-GB" b="1" dirty="0"/>
              <a:t> cloud </a:t>
            </a:r>
            <a:r>
              <a:rPr lang="en-US" altLang="en-US" b="1" dirty="0"/>
              <a:t>→</a:t>
            </a:r>
            <a:r>
              <a:rPr lang="en-US" altLang="en-GB" b="1" dirty="0"/>
              <a:t> serverless</a:t>
            </a:r>
            <a:endParaRPr lang="en-US" altLang="en-GB" b="1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“You can launch a VM in 2 minutes on cloud; on-prem might take weeks.”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/>
              <a:t>Summary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754630"/>
          </a:xfrm>
        </p:spPr>
        <p:txBody>
          <a:bodyPr wrap="square"/>
          <a:lstStyle/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Cost Efficiency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No big upfront hardware cost (CapEx </a:t>
            </a:r>
            <a:r>
              <a:rPr lang="en-US" altLang="en-US" b="1" dirty="0"/>
              <a:t>↓</a:t>
            </a:r>
            <a:r>
              <a:rPr lang="en-US" altLang="en-GB" b="1" dirty="0"/>
              <a:t>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Pay only for usage (OpEx model)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Less cost for maintenance, power, cooling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Managed services reduce admin effort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 training institute runs servers only during exam weeks; shuts down after.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/>
              <a:t>ADVANTAGES OF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677160"/>
          </a:xfrm>
        </p:spPr>
        <p:txBody>
          <a:bodyPr wrap="square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Scale up: add more CPU/RAM or more servers</a:t>
            </a:r>
            <a:endParaRPr lang="en-US" altLang="en-GB" b="1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Scale down: reduce resources when traffic drops</a:t>
            </a:r>
            <a:endParaRPr lang="en-US" altLang="en-GB" b="1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Auto-scaling possible</a:t>
            </a:r>
            <a:endParaRPr lang="en-US" altLang="en-GB" b="1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Trainer explanation (notes)</a:t>
            </a:r>
            <a:endParaRPr lang="en-US" altLang="en-GB" b="1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E-commerce sale (Big Billion Days): traffic spikes 10x </a:t>
            </a:r>
            <a:r>
              <a:rPr lang="en-US" altLang="en-US" b="1" dirty="0"/>
              <a:t>→</a:t>
            </a:r>
            <a:r>
              <a:rPr lang="en-US" altLang="en-GB" b="1" dirty="0"/>
              <a:t> auto scaling prevents downtime.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dirty="0">
                <a:sym typeface="+mn-ea"/>
              </a:rPr>
              <a:t>Scalability (Scale Up/Down)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046605"/>
          </a:xfrm>
        </p:spPr>
        <p:txBody>
          <a:bodyPr wrap="square"/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Design for minimal downtime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 multiple data centers/availability zones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Load balancers distribute traffic</a:t>
            </a:r>
            <a:endParaRPr lang="en-US" altLang="en-GB" b="1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Banking app runs in 2 availability zones; if one fails, other continues.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dirty="0">
                <a:sym typeface="+mn-ea"/>
              </a:rPr>
              <a:t>High Availability (HA)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323465"/>
          </a:xfrm>
        </p:spPr>
        <p:txBody>
          <a:bodyPr wrap="square"/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Backup + replication to another location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Faster recovery after disaster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DR is cheaper in cloud vs on-prem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Company replicates database to another region; failover happens if region goes down.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dirty="0">
                <a:sym typeface="+mn-ea"/>
              </a:rPr>
              <a:t> Disaster Recovery (DR)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196977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Access apps from anywhere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Deploy near users (multiple regions)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Better user experience (lower latency)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Streaming app uses CDN(Cloud Content Delivery Network) to serve videos faster globally.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dirty="0">
                <a:sym typeface="+mn-ea"/>
              </a:rPr>
              <a:t>Global Access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323465"/>
          </a:xfrm>
        </p:spPr>
        <p:txBody>
          <a:bodyPr wrap="square"/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Latest hardware available quickly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Managed services speed up development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Faster experimentation (create/delete resources quickly)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Data team uses managed data warehouse (BigQuery) instead of managing servers.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2900" y="322232"/>
            <a:ext cx="5715635" cy="368935"/>
          </a:xfrm>
        </p:spPr>
        <p:txBody>
          <a:bodyPr/>
          <a:p>
            <a:r>
              <a:rPr lang="en-US" altLang="en-GB" dirty="0">
                <a:sym typeface="+mn-ea"/>
              </a:rPr>
              <a:t>Performance &amp; Innovation Speed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046605"/>
          </a:xfrm>
        </p:spPr>
        <p:txBody>
          <a:bodyPr wrap="square"/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Massive video streaming traffic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Uses cloud to scale and deliver globally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Uses microservices + automation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New season release </a:t>
            </a:r>
            <a:r>
              <a:rPr lang="en-US" altLang="en-US" b="1" dirty="0"/>
              <a:t>→</a:t>
            </a:r>
            <a:r>
              <a:rPr lang="en-US" altLang="en-GB" b="1" dirty="0"/>
              <a:t> traffic spikes; cloud scaling handles it.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Real Company Use Case — Netflix (Scaling + Global Delivery)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046605"/>
          </a:xfrm>
        </p:spPr>
        <p:txBody>
          <a:bodyPr wrap="square"/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Needs to handle festival sales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Requires HA + DR + scalability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Uses global infrastructure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During a sale, they add capacity quickly and remove after sale.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Amazon Retail (Reliability + Peak Traffic)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346202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Before: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Buy servers for peak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Long setup time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Hard DR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After: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On-demand resources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Auto scaling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Built-in HA/DR patterns.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Startup saves money by using cloud credits + scaling only when users grow.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Before vs After Cloud (Simple Comparison)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Cloud advantages: cost, scale, HA, DR, global, performance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 cases: streaming, e-commerce, remote work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Always explain with 1 real example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“Our app needed global users, so cloud regions + CDN reduced latency.”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Summary 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346202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Security Concerns (Shared Responsibility)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Cloud is secure, but misconfiguration is common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Data leaks happen due to: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open storage buckets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weak IAM permissions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exposed keys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Shared Responsibility Model: provider vs customer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Publicly exposed storage bucket leads to data leak.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CHALLENGES OF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04660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Downtime (Yes, Cloud Can Go Down)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Cloud providers can have outages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Apps fail if designed in one zone/one region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Solution: multi-AZ + backup + failover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 service hosted in a single availability zone goes down during a zone outage..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CHALLENGES OF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338518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 Vendor Lock-in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Using provider-specific services can make switching hard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Example: serverless, managed DB, AI services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Mitigation: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containers (Kubernetes)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multi-cloud strategy (careful!)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abstraction layers and good design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Company heavily uses AWS Lambda + DynamoDB; migrating to another provider is complex.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CHALLENGES OF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346202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Cost Management (Billing Surprises)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Easy to create resources </a:t>
            </a:r>
            <a:r>
              <a:rPr lang="en-US" altLang="en-US" b="1" dirty="0"/>
              <a:t>→</a:t>
            </a:r>
            <a:r>
              <a:rPr lang="en-US" altLang="en-GB" b="1" dirty="0"/>
              <a:t> easy to forget them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Data transfer (egress) can be costly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Solution: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budgets + alerts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tagging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rightsizing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reserved/spot usage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Dev left a large VM running all weekend </a:t>
            </a:r>
            <a:r>
              <a:rPr lang="en-US" altLang="en-US" b="1" dirty="0"/>
              <a:t>→</a:t>
            </a:r>
            <a:r>
              <a:rPr lang="en-US" altLang="en-GB" b="1" dirty="0"/>
              <a:t> unexpected bill.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CHALLENGES OF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310832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 How Companies Solve Them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Problem: public storage exposure </a:t>
            </a:r>
            <a:r>
              <a:rPr lang="en-US" altLang="en-US" b="1" dirty="0"/>
              <a:t>→</a:t>
            </a:r>
            <a:r>
              <a:rPr lang="en-US" altLang="en-GB" b="1" dirty="0"/>
              <a:t> fix with IAM + private buckets + scanning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Problem: outages </a:t>
            </a:r>
            <a:r>
              <a:rPr lang="en-US" altLang="en-US" b="1" dirty="0"/>
              <a:t>→</a:t>
            </a:r>
            <a:r>
              <a:rPr lang="en-US" altLang="en-GB" b="1" dirty="0"/>
              <a:t> multi-AZ + DR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Problem: cost </a:t>
            </a:r>
            <a:r>
              <a:rPr lang="en-US" altLang="en-US" b="1" dirty="0"/>
              <a:t>→</a:t>
            </a:r>
            <a:r>
              <a:rPr lang="en-US" altLang="en-GB" b="1" dirty="0"/>
              <a:t> budgets + tagging + auto shutdown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Problem: compliance </a:t>
            </a:r>
            <a:r>
              <a:rPr lang="en-US" altLang="en-US" b="1" dirty="0"/>
              <a:t>→</a:t>
            </a:r>
            <a:r>
              <a:rPr lang="en-US" altLang="en-GB" b="1" dirty="0"/>
              <a:t> encryption + audit logs + policies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Enable AWS Config/Azure Policy to detect non-compliant resources.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CHALLENGES OF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046605"/>
          </a:xfrm>
        </p:spPr>
        <p:txBody>
          <a:bodyPr wrap="square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Main challenges: security, downtime, lock-in, cost, compliance</a:t>
            </a:r>
            <a:endParaRPr lang="en-US" altLang="en-GB" b="1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Most cloud failures are design/config mistakes</a:t>
            </a:r>
            <a:endParaRPr lang="en-US" altLang="en-GB" b="1" dirty="0"/>
          </a:p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Always answer with “risk + mitigation”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“Misconfiguration risk </a:t>
            </a:r>
            <a:r>
              <a:rPr lang="en-US" altLang="en-US" b="1" dirty="0"/>
              <a:t>→</a:t>
            </a:r>
            <a:r>
              <a:rPr lang="en-US" altLang="en-GB" b="1" dirty="0"/>
              <a:t> fix with least privilege IAM + automation + reviews.”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Summary 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046605"/>
          </a:xfrm>
        </p:spPr>
        <p:txBody>
          <a:bodyPr wrap="square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Public Cloud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Resources shared across customers (logically isolated)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Owned/managed by provider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Fast setup, pay-as-you-go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 mobile app backend hosted on AWS.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CLOUD COMPUTING (DEPLOYMENT) MODELS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046605"/>
          </a:xfrm>
        </p:spPr>
        <p:txBody>
          <a:bodyPr wrap="square"/>
          <a:lstStyle/>
          <a:p>
            <a:pPr marL="285750" lvl="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Public Cloud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Resources shared across customers (logically isolated)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Owned/managed by provider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Fast setup, pay-as-you-go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 mobile app backend hosted on AWS.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CLOUD COMPUTING (DEPLOYMENT) MODELS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046605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Private Cloud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Cloud-like environment for one organization only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Can be on-prem or hosted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More control, often higher cost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 government org runs private cloud using VMware/OpenStack.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CLOUD COMPUTING (DEPLOYMENT) MODELS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40030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Hybrid Cloud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Mix of on-prem + public cloud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Keep sensitive workloads on-prem, rest on cloud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Useful for gradual migration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Bank keeps core banking on-prem but runs analytics on cloud..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CLOUD COMPUTING (DEPLOYMENT) MODELS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3462020"/>
          </a:xfrm>
        </p:spPr>
        <p:txBody>
          <a:bodyPr wrap="square"/>
          <a:lstStyle/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Multi-cloud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 multiple public clouds (AWS + Azure + GCP)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Reasons: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avoid lock-in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best services per provider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compliance / regional needs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Can increase complexity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Company uses Azure for Microsoft stack, AWS for e-commerce, GCP for analytics.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CLOUD COMPUTING (DEPLOYMENT) MODELS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400300"/>
          </a:xfrm>
        </p:spPr>
        <p:txBody>
          <a:bodyPr wrap="square"/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Public: common, fast, scalable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Private: control, compliance, costlier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Hybrid: mix, migration-friendly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Multi-cloud: flexibility, complexity</a:t>
            </a: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0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Startup: public cloud; enterprise: hybrid; analytics-heavy: maybe GCP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Summary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819150"/>
            <a:ext cx="8464550" cy="2323465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IaaS — Infrastructure as a Service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Rent basic infrastructure: VM, network, storage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You manage: OS, patches, app, data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Best for: lift-and-shift, custom setups</a:t>
            </a:r>
            <a:endParaRPr lang="en-US" altLang="en-GB" b="1" dirty="0"/>
          </a:p>
          <a:p>
            <a:pPr lvl="0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Hosting a Java app on an EC2/Azure VM where you install Java, Tomcat, and deploy WAR file.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CLOUD SERVICE MODELS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046605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IaaS Examples (AWS/Azure/GCP)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AWS: EC2, EBS, VPC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Azure: Virtual Machines, Managed Disks, Virtual Network (VNet)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GCP: Compute Engine, Persistent Disk, VPC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Create VM + attach disk + allow port 80 via security rules.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CLOUD SERVICE MODELS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75463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PaaS — Platform as a Service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Provider gives a platform to run code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You focus on application + data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Provider manages: OS, runtime, scaling (mostly)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Best for: faster development, standard web apps/APIs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Deploy a Node.js API to Azure App Service without managing a VM.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CLOUD SERVICE MODELS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PaaS Examples (AWS/Azure/GCP)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AWS: Elastic Beanstalk, App Runner, RDS (managed DB often considered PaaS)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Azure: App Service, Azure SQL Database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GCP: App Engine, Cloud SQL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 AWS RDS PostgreSQL instead of installing PostgreSQL on EC2.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CLOUD SERVICE MODELS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SaaS — Software as a Service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Ready-to-use software over internet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You just configure and use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Provider manages everything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Best for: email, CRM, collaboration, ticketing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Using Google Workspace / Microsoft 365 for email and docs.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CLOUD SERVICE MODELS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CLOUD SERVICE MODELS</a:t>
            </a:r>
            <a:endParaRPr lang="en-US" altLang="en-GB"/>
          </a:p>
        </p:txBody>
      </p:sp>
      <p:graphicFrame>
        <p:nvGraphicFramePr>
          <p:cNvPr id="6" name="Table 5"/>
          <p:cNvGraphicFramePr/>
          <p:nvPr/>
        </p:nvGraphicFramePr>
        <p:xfrm>
          <a:off x="457200" y="1809750"/>
          <a:ext cx="7863840" cy="838200"/>
        </p:xfrm>
        <a:graphic>
          <a:graphicData uri="http://schemas.openxmlformats.org/drawingml/2006/table">
            <a:tbl>
              <a:tblPr/>
              <a:tblGrid>
                <a:gridCol w="976630"/>
                <a:gridCol w="1996440"/>
                <a:gridCol w="1946275"/>
                <a:gridCol w="2944495"/>
              </a:tblGrid>
              <a:tr h="0">
                <a:tc>
                  <a:txBody>
                    <a:bodyPr/>
                    <a:p>
                      <a:pPr marL="0" indent="0" fontAlgn="b"/>
                      <a:r>
                        <a:rPr lang="en-US" altLang="zh-CN" sz="1400" b="1" i="0">
                          <a:solidFill>
                            <a:srgbClr val="252523"/>
                          </a:solidFill>
                          <a:ea typeface="baselGrotesk"/>
                          <a:cs typeface="+mn-lt"/>
                        </a:rPr>
                        <a:t>Model</a:t>
                      </a:r>
                      <a:endParaRPr lang="en-US" altLang="zh-CN" sz="1400" b="1" i="0">
                        <a:solidFill>
                          <a:srgbClr val="252523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en-US" altLang="zh-CN" sz="1400" b="1" i="0">
                          <a:solidFill>
                            <a:srgbClr val="252523"/>
                          </a:solidFill>
                          <a:ea typeface="baselGrotesk"/>
                          <a:cs typeface="+mn-lt"/>
                        </a:rPr>
                        <a:t>You Manage</a:t>
                      </a:r>
                      <a:endParaRPr lang="en-US" altLang="zh-CN" sz="1400" b="1" i="0">
                        <a:solidFill>
                          <a:srgbClr val="252523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en-US" altLang="zh-CN" sz="1400" b="1" i="0">
                          <a:solidFill>
                            <a:srgbClr val="252523"/>
                          </a:solidFill>
                          <a:ea typeface="baselGrotesk"/>
                          <a:cs typeface="+mn-lt"/>
                        </a:rPr>
                        <a:t>Provider Manages</a:t>
                      </a:r>
                      <a:endParaRPr lang="en-US" altLang="zh-CN" sz="1400" b="1" i="0">
                        <a:solidFill>
                          <a:srgbClr val="252523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en-US" altLang="zh-CN" sz="1400" b="1" i="0">
                          <a:solidFill>
                            <a:srgbClr val="252523"/>
                          </a:solidFill>
                          <a:ea typeface="baselGrotesk"/>
                          <a:cs typeface="+mn-lt"/>
                        </a:rPr>
                        <a:t>Example</a:t>
                      </a:r>
                      <a:endParaRPr lang="en-US" altLang="zh-CN" sz="1400" b="1" i="0">
                        <a:solidFill>
                          <a:srgbClr val="252523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IaaS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OS, runtime, app, data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infra + virtualization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EC2, Azure VM, Compute Engine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PaaS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app + data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infra + OS + runtime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App Service, App Engine, Elastic Beanstalk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SaaS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users + config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everything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4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Gmail, Salesforce, Zoom</a:t>
                      </a:r>
                      <a:endParaRPr lang="en-US" altLang="zh-CN" sz="14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381000" y="13522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ts val="1000"/>
              </a:spcAft>
            </a:pPr>
            <a:r>
              <a:rPr lang="en-US" altLang="zh-CN" sz="1600" b="1" i="0">
                <a:solidFill>
                  <a:srgbClr val="252523"/>
                </a:solidFill>
                <a:latin typeface="+mn-lt"/>
                <a:ea typeface="monaSans"/>
                <a:cs typeface="+mn-lt"/>
              </a:rPr>
              <a:t>Comparison Table </a:t>
            </a:r>
            <a:endParaRPr lang="en-US" altLang="zh-CN" sz="1600" b="1" i="0">
              <a:solidFill>
                <a:srgbClr val="252523"/>
              </a:solidFill>
              <a:latin typeface="+mn-lt"/>
              <a:ea typeface="monaSans"/>
              <a:cs typeface="+mn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75463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Cloud Billing Basics (What You Pay For)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Compute time (seconds/minutes/hours)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Storage (GB per month)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Data transfer (ingress often free, egress often paid)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Managed service usage (requests, read/write, etc.)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Running a VM 24/7 costs much more than running it only 8 hours/day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PRICING MODELS IN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75463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Pay-as-you-go (On-Demand)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Pay only for actual usage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No long-term commitment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Best for: experiments, unpredictable workloads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Dev environment VM used for 2 hours/day.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PRICING MODELS IN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Spot Instances / Preemptible VMs (Cheapest, But Can Stop)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 unused capacity at big discount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Provider can reclaim anytime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Best for: batch jobs, CI/CD, rendering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Video rendering jobs run on spot; if interrupted, job restarts.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PRICING MODELS IN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046605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Reserved Instances / Savings Plans (Commit &amp; Save)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Commit for 1 or 3 years </a:t>
            </a:r>
            <a:r>
              <a:rPr lang="en-US" altLang="en-US" b="1" dirty="0"/>
              <a:t>→</a:t>
            </a:r>
            <a:r>
              <a:rPr lang="en-US" altLang="en-GB" b="1" dirty="0"/>
              <a:t> lower cost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Best for: steady, predictable workloads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Requires planning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Production database runs always </a:t>
            </a:r>
            <a:r>
              <a:rPr lang="en-US" altLang="en-US" b="1" dirty="0"/>
              <a:t>→</a:t>
            </a:r>
            <a:r>
              <a:rPr lang="en-US" altLang="en-GB" b="1" dirty="0"/>
              <a:t> reserved capacity reduces cost.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PRICING MODELS IN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046605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Subscription Model (Common in SaaS)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Fixed monthly/annual fee per user or per plan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Used for SaaS products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Predictable cost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Company pays per user per month for email and collaboration suite..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PRICING MODELS IN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346202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Cost Optimization Strategies (Must Know)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Rightsizing (choose correct VM size)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Auto-scaling and scheduled shutdown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 reserved for steady workloads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 spot for non-critical batch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Storage lifecycle policies (move old data to cheaper storage)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Monitoring, budgets, alerts, tagging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lvl="1" indent="45720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Move logs older than 90 days to archival storage automatically.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PRICING MODELS IN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346202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Real-world Billing Example (Simple Numbers)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Example: dev VM + storage + data transfer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VM: 1 small VM at $0.05/hour, used 8 hours/day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US" b="1" dirty="0"/>
              <a:t>→</a:t>
            </a:r>
            <a:r>
              <a:rPr lang="en-US" altLang="en-GB" b="1" dirty="0"/>
              <a:t> 0.05 </a:t>
            </a:r>
            <a:r>
              <a:rPr lang="en-US" altLang="en-US" b="1" dirty="0"/>
              <a:t>×</a:t>
            </a:r>
            <a:r>
              <a:rPr lang="en-US" altLang="en-GB" b="1" dirty="0"/>
              <a:t> 8 </a:t>
            </a:r>
            <a:r>
              <a:rPr lang="en-US" altLang="en-US" b="1" dirty="0"/>
              <a:t>×</a:t>
            </a:r>
            <a:r>
              <a:rPr lang="en-US" altLang="en-GB" b="1" dirty="0"/>
              <a:t> 30 = $12/month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Storage: 100 GB at $0.10/GB-month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US" b="1" dirty="0"/>
              <a:t>→</a:t>
            </a:r>
            <a:r>
              <a:rPr lang="en-US" altLang="en-GB" b="1" dirty="0"/>
              <a:t> $10/month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Total ≈ $22/month (excluding data transfer/other services)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PRICING MODELS IN CLOUD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Amazon Web Services (AWS) = leading cloud platform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Offers compute, storage, databases, networking, AI, security, more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Used by startups to enterprises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Trainer explanation (notes)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lvl="2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Host a website on S3 + CloudFront.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AWS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AWS Global Infrastructure (Region &amp; AZ Basics)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Region = geographic area (e.g., Mumbai)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Availability Zone (AZ) = separate data center within region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Best practice: run production across multiple AZs</a:t>
            </a: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Deploy app servers in AZ1 and AZ2 behind a load balancer.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AWS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AWS Key Service — EC2 (Compute)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EC2 = virtual servers in AWS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Choose CPU/RAM, OS, storage, network rules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Can scale using Auto Scaling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Launch an EC2 Ubuntu VM, install Nginx, host a simple website.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AWS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046605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S3 (Storage)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S3 = object storage for files (images, videos, backups)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Highly durable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Used for static websites, backups, logs, data lakes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Store product images for an e-commerce site.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AWS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046605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RDS (Managed Database)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RDS = managed relational databases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Supports MySQL, PostgreSQL, MariaDB, Oracle, SQL Server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Automated backups and patching options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Create RDS PostgreSQL for an app and connect from backend.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AWS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Lambda (Serverless Compute)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Run code without managing servers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Charged per request + execution time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Best for event-based tasks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When a file is uploaded to S3, Lambda resizes the image automatically..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AWS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046605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VPC (Networking)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VPC = your private network in AWS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Subnets: public/private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Control routing, security, internet access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DB stays private (no public internet), only app server can access it...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AWS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What is Microsoft Azure?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Azure = Microsoft cloud platform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Strong in enterprise + Microsoft ecosystem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Great for Windows Server, Active Directory, .NET, Office integration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Company with Windows + AD uses Azure for easier integration.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AZURE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Virtual Machines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Azure VM = virtual server (like AWS EC2)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You manage OS and installed software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Good for legacy apps and custom setups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Host a Windows-based application on Azure VM.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AZURE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75463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Blob Storage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Blob Storage = object storage for files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Store images, documents, backups, logs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Supports tiers (hot/cool/archive)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Store invoice PDFs for a finance application.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AZURE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Azure SQL Database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Managed relational database (SQL Server)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Built-in HA options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Reduces admin effort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HR application uses Azure SQL Database as backend.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AZURE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Azure Functions (Serverless)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Run event-based code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Scales automatically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Pay per execution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When a new user registers, Function sends welcome email via event.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AZURE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Azure Functions (Serverless)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Run event-based code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Scales automatically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Pay per execution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When a new user registers, Function sends welcome email via event.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AZURE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What is Google Cloud Platform (GCP)?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GCP = Google’s cloud platform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Strong in data analytics, ML, Kubernetes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Popular for data-heavy workloads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Company uses BigQuery to analyze millions of records quickly.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GCP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046605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Compute Engine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Compute Engine = virtual machines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You manage OS and software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Good for custom compute needs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Deploy a backend server on Compute Engine VM.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GCP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Cloud Storage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Object storage for files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Used for backups, data lakes, media files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Lifecycle policies supported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Store ML training datasets.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GCP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75463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BigQuery (Analytics)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BigQuery = serverless data warehouse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Run SQL queries on huge datasets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Fast and scalable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Analyze clickstream data for a shopping website.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GCP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70" y="819150"/>
            <a:ext cx="8590280" cy="2400300"/>
          </a:xfrm>
        </p:spPr>
        <p:txBody>
          <a:bodyPr wrap="square"/>
          <a:lstStyle/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Cloud Functions (Serverless)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Event-based code execution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Auto scales</a:t>
            </a:r>
            <a:endParaRPr lang="en-US" altLang="en-GB" b="1" dirty="0"/>
          </a:p>
          <a:p>
            <a:pPr lvl="2" indent="0">
              <a:spcBef>
                <a:spcPts val="600"/>
              </a:spcBef>
              <a:buNone/>
            </a:pPr>
            <a:r>
              <a:rPr lang="en-US" altLang="en-GB" b="1" dirty="0"/>
              <a:t>Pay per usage</a:t>
            </a: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endParaRPr lang="en-US" altLang="en-GB" b="1" dirty="0"/>
          </a:p>
          <a:p>
            <a:pPr lvl="1" indent="0">
              <a:spcBef>
                <a:spcPts val="600"/>
              </a:spcBef>
              <a:buNone/>
            </a:pPr>
            <a:r>
              <a:rPr lang="en-US" altLang="en-GB" b="1" dirty="0"/>
              <a:t>Real-time example</a:t>
            </a:r>
            <a:endParaRPr lang="en-US" altLang="en-GB" b="1" dirty="0"/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GB" b="1" dirty="0"/>
              <a:t>Process new files uploaded to Cloud Storage.</a:t>
            </a:r>
            <a:endParaRPr lang="en-US" altLang="en-GB" b="1" dirty="0"/>
          </a:p>
        </p:txBody>
      </p:sp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 dirty="0">
                <a:sym typeface="+mn-ea"/>
              </a:rPr>
              <a:t>INTRODUCTION TO GCP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/>
          <p:nvPr>
            <p:ph type="title"/>
          </p:nvPr>
        </p:nvSpPr>
        <p:spPr>
          <a:xfrm>
            <a:off x="513080" y="321945"/>
            <a:ext cx="8227060" cy="368935"/>
          </a:xfrm>
        </p:spPr>
        <p:txBody>
          <a:bodyPr wrap="square"/>
          <a:p>
            <a:r>
              <a:rPr lang="en-US" altLang="en-GB"/>
              <a:t> Service Name Mapping </a:t>
            </a:r>
            <a:endParaRPr lang="en-US" altLang="en-GB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579120" y="1123950"/>
          <a:ext cx="7924800" cy="1950720"/>
        </p:xfrm>
        <a:graphic>
          <a:graphicData uri="http://schemas.openxmlformats.org/drawingml/2006/table">
            <a:tbl>
              <a:tblPr/>
              <a:tblGrid>
                <a:gridCol w="2310765"/>
                <a:gridCol w="1651635"/>
                <a:gridCol w="1981200"/>
                <a:gridCol w="1981200"/>
              </a:tblGrid>
              <a:tr h="325120">
                <a:tc>
                  <a:txBody>
                    <a:bodyPr/>
                    <a:p>
                      <a:pPr marL="0" indent="0" fontAlgn="b"/>
                      <a:r>
                        <a:rPr lang="en-US" altLang="zh-CN" sz="1800" b="1" i="0">
                          <a:solidFill>
                            <a:srgbClr val="252523"/>
                          </a:solidFill>
                          <a:ea typeface="baselGrotesk"/>
                          <a:cs typeface="+mn-lt"/>
                        </a:rPr>
                        <a:t>Concept</a:t>
                      </a:r>
                      <a:endParaRPr lang="en-US" altLang="zh-CN" sz="1800" b="1" i="0">
                        <a:solidFill>
                          <a:srgbClr val="252523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en-US" altLang="zh-CN" sz="1800" b="1" i="0">
                          <a:solidFill>
                            <a:srgbClr val="252523"/>
                          </a:solidFill>
                          <a:ea typeface="baselGrotesk"/>
                          <a:cs typeface="+mn-lt"/>
                        </a:rPr>
                        <a:t>AWS</a:t>
                      </a:r>
                      <a:endParaRPr lang="en-US" altLang="zh-CN" sz="1800" b="1" i="0">
                        <a:solidFill>
                          <a:srgbClr val="252523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en-US" altLang="zh-CN" sz="1800" b="1" i="0">
                          <a:solidFill>
                            <a:srgbClr val="252523"/>
                          </a:solidFill>
                          <a:ea typeface="baselGrotesk"/>
                          <a:cs typeface="+mn-lt"/>
                        </a:rPr>
                        <a:t>Azure</a:t>
                      </a:r>
                      <a:endParaRPr lang="en-US" altLang="zh-CN" sz="1800" b="1" i="0">
                        <a:solidFill>
                          <a:srgbClr val="252523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"/>
                      <a:r>
                        <a:rPr lang="en-US" altLang="zh-CN" sz="1800" b="1" i="0">
                          <a:solidFill>
                            <a:srgbClr val="252523"/>
                          </a:solidFill>
                          <a:ea typeface="baselGrotesk"/>
                          <a:cs typeface="+mn-lt"/>
                        </a:rPr>
                        <a:t>GCP</a:t>
                      </a:r>
                      <a:endParaRPr lang="en-US" altLang="zh-CN" sz="1800" b="1" i="0">
                        <a:solidFill>
                          <a:srgbClr val="252523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 anchor="b" anchorCtr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120"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Virtual Machine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EC2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Virtual Machines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Compute Engine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120"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Object Storage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S3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Blob Storage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Cloud Storage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120"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Managed Relational DB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RDS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Azure SQL / DB services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Cloud SQL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120"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Serverless Functions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Lambda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Azure Functions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Cloud Functions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120"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Networking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VPC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VNet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fontAlgn="base"/>
                      <a:r>
                        <a:rPr lang="en-US" altLang="zh-CN" sz="1800" b="1" i="0">
                          <a:solidFill>
                            <a:srgbClr val="2E2B29"/>
                          </a:solidFill>
                          <a:ea typeface="baselGrotesk"/>
                          <a:cs typeface="+mn-lt"/>
                        </a:rPr>
                        <a:t>VPC</a:t>
                      </a:r>
                      <a:endParaRPr lang="en-US" altLang="zh-CN" sz="1800" b="1" i="0">
                        <a:solidFill>
                          <a:srgbClr val="2E2B29"/>
                        </a:solidFill>
                        <a:ea typeface="baselGrotesk"/>
                        <a:cs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5E7EB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8093" y="2233930"/>
            <a:ext cx="2608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spc="2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Thank</a:t>
            </a:r>
            <a:r>
              <a:rPr sz="4000" b="0" spc="1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0" spc="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You!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2133336" cy="5137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623*153"/>
  <p:tag name="TABLE_ENDDRAG_RECT" val="45*88*623*15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14658</Words>
  <Application>WPS Presentation</Application>
  <PresentationFormat>On-screen Show (16:9)</PresentationFormat>
  <Paragraphs>674</Paragraphs>
  <Slides>61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3" baseType="lpstr">
      <vt:lpstr>Arial</vt:lpstr>
      <vt:lpstr>SimSun</vt:lpstr>
      <vt:lpstr>Wingdings</vt:lpstr>
      <vt:lpstr>Calibri</vt:lpstr>
      <vt:lpstr>Microsoft YaHei</vt:lpstr>
      <vt:lpstr>Arial Unicode MS</vt:lpstr>
      <vt:lpstr>Arial Unicode MS</vt:lpstr>
      <vt:lpstr>Calibri</vt:lpstr>
      <vt:lpstr>baselGrotesk</vt:lpstr>
      <vt:lpstr>Segoe Print</vt:lpstr>
      <vt:lpstr>monaSans</vt:lpstr>
      <vt:lpstr>Office Theme</vt:lpstr>
      <vt:lpstr>PowerPoint 演示文稿</vt:lpstr>
      <vt:lpstr>Introduction to Python</vt:lpstr>
      <vt:lpstr>What is Cloud Computing?</vt:lpstr>
      <vt:lpstr>Agenda</vt:lpstr>
      <vt:lpstr>On-Premise vs Cloud (Basic Difference)</vt:lpstr>
      <vt:lpstr>Evolution of Cloud</vt:lpstr>
      <vt:lpstr>Summary</vt:lpstr>
      <vt:lpstr>ADVANTAGES OF CLOUD</vt:lpstr>
      <vt:lpstr>Scalability (Scale Up/Down)</vt:lpstr>
      <vt:lpstr>High Availability (HA)</vt:lpstr>
      <vt:lpstr> Disaster Recovery (DR)</vt:lpstr>
      <vt:lpstr>Global Access</vt:lpstr>
      <vt:lpstr>Performance &amp; Innovation Speed</vt:lpstr>
      <vt:lpstr>Real Company Use Case — Netflix (Scaling + Global Delivery)</vt:lpstr>
      <vt:lpstr>Amazon Retail (Reliability + Peak Traffic)</vt:lpstr>
      <vt:lpstr>Before vs After Cloud (Simple Comparison)</vt:lpstr>
      <vt:lpstr>Summary </vt:lpstr>
      <vt:lpstr>CHALLENGES OF CLOUD</vt:lpstr>
      <vt:lpstr>CHALLENGES OF CLOUD</vt:lpstr>
      <vt:lpstr>CHALLENGES OF CLOUD</vt:lpstr>
      <vt:lpstr>CHALLENGES OF CLOUD</vt:lpstr>
      <vt:lpstr>CHALLENGES OF CLOUD</vt:lpstr>
      <vt:lpstr>Summary </vt:lpstr>
      <vt:lpstr>CLOUD COMPUTING (DEPLOYMENT) MODELS</vt:lpstr>
      <vt:lpstr>CLOUD COMPUTING (DEPLOYMENT) MODELS</vt:lpstr>
      <vt:lpstr>CLOUD COMPUTING (DEPLOYMENT) MODELS</vt:lpstr>
      <vt:lpstr>CLOUD COMPUTING (DEPLOYMENT) MODELS</vt:lpstr>
      <vt:lpstr>CLOUD COMPUTING (DEPLOYMENT) MODELS</vt:lpstr>
      <vt:lpstr>Summary</vt:lpstr>
      <vt:lpstr>CLOUD SERVICE MODELS</vt:lpstr>
      <vt:lpstr>CLOUD SERVICE MODELS</vt:lpstr>
      <vt:lpstr>CLOUD SERVICE MODELS</vt:lpstr>
      <vt:lpstr>CLOUD SERVICE MODELS</vt:lpstr>
      <vt:lpstr>CLOUD SERVICE MODELS</vt:lpstr>
      <vt:lpstr>CLOUD SERVICE MODELS</vt:lpstr>
      <vt:lpstr>PRICING MODELS IN CLOUD</vt:lpstr>
      <vt:lpstr>PRICING MODELS IN CLOUD</vt:lpstr>
      <vt:lpstr>PRICING MODELS IN CLOUD</vt:lpstr>
      <vt:lpstr>PRICING MODELS IN CLOUD</vt:lpstr>
      <vt:lpstr>PRICING MODELS IN CLOUD</vt:lpstr>
      <vt:lpstr>PRICING MODELS IN CLOUD</vt:lpstr>
      <vt:lpstr>PRICING MODELS IN CLOUD</vt:lpstr>
      <vt:lpstr>INTRODUCTION TO AWS</vt:lpstr>
      <vt:lpstr>INTRODUCTION TO AWS</vt:lpstr>
      <vt:lpstr>INTRODUCTION TO AWS</vt:lpstr>
      <vt:lpstr>INTRODUCTION TO AWS</vt:lpstr>
      <vt:lpstr>INTRODUCTION TO AWS</vt:lpstr>
      <vt:lpstr>INTRODUCTION TO AWS</vt:lpstr>
      <vt:lpstr>INTRODUCTION TO AWS</vt:lpstr>
      <vt:lpstr>INTRODUCTION TO AZURE</vt:lpstr>
      <vt:lpstr>INTRODUCTION TO AZURE</vt:lpstr>
      <vt:lpstr>INTRODUCTION TO AZURE</vt:lpstr>
      <vt:lpstr>INTRODUCTION TO AZURE</vt:lpstr>
      <vt:lpstr>INTRODUCTION TO AZURE</vt:lpstr>
      <vt:lpstr>INTRODUCTION TO AZURE</vt:lpstr>
      <vt:lpstr>INTRODUCTION TO GCP</vt:lpstr>
      <vt:lpstr>INTRODUCTION TO GCP</vt:lpstr>
      <vt:lpstr>INTRODUCTION TO GCP</vt:lpstr>
      <vt:lpstr>INTRODUCTION TO GCP</vt:lpstr>
      <vt:lpstr>INTRODUCTION TO GCP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GUVI proposal for CHUBB</dc:title>
  <dc:creator>udhay</dc:creator>
  <cp:lastModifiedBy>Admin</cp:lastModifiedBy>
  <cp:revision>66</cp:revision>
  <dcterms:created xsi:type="dcterms:W3CDTF">2025-06-18T10:57:00Z</dcterms:created>
  <dcterms:modified xsi:type="dcterms:W3CDTF">2026-06-09T07:31:52Z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2025-06-18T05:30:00Z</vt:filetime>
  </property>
  <property fmtid="{D5CDD505-2E9C-101B-9397-08002B2CF9AE}" pid="3" name="Creator">
    <vt:lpwstr>Google</vt:lpwstr>
  </property>
  <property fmtid="{D5CDD505-2E9C-101B-9397-08002B2CF9AE}" pid="4" name="LastSaved">
    <vt:filetime>2025-06-18T05:30:00Z</vt:filetime>
  </property>
  <property fmtid="{D5CDD505-2E9C-101B-9397-08002B2CF9AE}" pid="5" name="ICV">
    <vt:lpwstr>5E09C08B62B644C7A668296AF1C44340_13</vt:lpwstr>
  </property>
  <property fmtid="{D5CDD505-2E9C-101B-9397-08002B2CF9AE}" pid="6" name="KSOProductBuildVer">
    <vt:lpwstr>2057-12.2.0.23202</vt:lpwstr>
  </property>
</Properties>
</file>